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SUSE"/>
      <p:regular r:id="rId45"/>
      <p:bold r:id="rId46"/>
      <p:italic r:id="rId47"/>
      <p:boldItalic r:id="rId48"/>
    </p:embeddedFont>
    <p:embeddedFont>
      <p:font typeface="JetBrains Mono SemiBold"/>
      <p:regular r:id="rId49"/>
      <p:bold r:id="rId50"/>
      <p:italic r:id="rId51"/>
      <p:boldItalic r:id="rId52"/>
    </p:embeddedFont>
    <p:embeddedFont>
      <p:font typeface="Lexend Medium"/>
      <p:regular r:id="rId53"/>
      <p:bold r:id="rId54"/>
    </p:embeddedFont>
    <p:embeddedFont>
      <p:font typeface="SUSE Light"/>
      <p:regular r:id="rId55"/>
      <p:bold r:id="rId56"/>
      <p:italic r:id="rId57"/>
      <p:boldItalic r:id="rId58"/>
    </p:embeddedFont>
    <p:embeddedFont>
      <p:font typeface="SUSE SemiBold"/>
      <p:regular r:id="rId59"/>
      <p:bold r:id="rId60"/>
      <p:italic r:id="rId61"/>
      <p:boldItalic r:id="rId62"/>
    </p:embeddedFont>
    <p:embeddedFont>
      <p:font typeface="JetBrains Mono"/>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SUSE-bold.fntdata"/><Relationship Id="rId45" Type="http://schemas.openxmlformats.org/officeDocument/2006/relationships/font" Target="fonts/SUS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SUSE-boldItalic.fntdata"/><Relationship Id="rId47" Type="http://schemas.openxmlformats.org/officeDocument/2006/relationships/font" Target="fonts/SUSE-italic.fntdata"/><Relationship Id="rId49" Type="http://schemas.openxmlformats.org/officeDocument/2006/relationships/font" Target="fonts/JetBrainsMonoSemiBo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SUSESemiBold-boldItalic.fntdata"/><Relationship Id="rId61" Type="http://schemas.openxmlformats.org/officeDocument/2006/relationships/font" Target="fonts/SUSESemiBold-italic.fntdata"/><Relationship Id="rId20" Type="http://schemas.openxmlformats.org/officeDocument/2006/relationships/slide" Target="slides/slide15.xml"/><Relationship Id="rId64" Type="http://schemas.openxmlformats.org/officeDocument/2006/relationships/font" Target="fonts/JetBrainsMono-bold.fntdata"/><Relationship Id="rId63" Type="http://schemas.openxmlformats.org/officeDocument/2006/relationships/font" Target="fonts/JetBrainsMono-regular.fntdata"/><Relationship Id="rId22" Type="http://schemas.openxmlformats.org/officeDocument/2006/relationships/slide" Target="slides/slide17.xml"/><Relationship Id="rId66" Type="http://schemas.openxmlformats.org/officeDocument/2006/relationships/font" Target="fonts/JetBrainsMono-boldItalic.fntdata"/><Relationship Id="rId21" Type="http://schemas.openxmlformats.org/officeDocument/2006/relationships/slide" Target="slides/slide16.xml"/><Relationship Id="rId65" Type="http://schemas.openxmlformats.org/officeDocument/2006/relationships/font" Target="fonts/JetBrainsMono-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SUSESemiBold-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JetBrainsMonoSemiBold-italic.fntdata"/><Relationship Id="rId50" Type="http://schemas.openxmlformats.org/officeDocument/2006/relationships/font" Target="fonts/JetBrainsMonoSemiBold-bold.fntdata"/><Relationship Id="rId53" Type="http://schemas.openxmlformats.org/officeDocument/2006/relationships/font" Target="fonts/LexendMedium-regular.fntdata"/><Relationship Id="rId52" Type="http://schemas.openxmlformats.org/officeDocument/2006/relationships/font" Target="fonts/JetBrainsMonoSemiBold-boldItalic.fntdata"/><Relationship Id="rId11" Type="http://schemas.openxmlformats.org/officeDocument/2006/relationships/slide" Target="slides/slide6.xml"/><Relationship Id="rId55" Type="http://schemas.openxmlformats.org/officeDocument/2006/relationships/font" Target="fonts/SUSELight-regular.fntdata"/><Relationship Id="rId10" Type="http://schemas.openxmlformats.org/officeDocument/2006/relationships/slide" Target="slides/slide5.xml"/><Relationship Id="rId54" Type="http://schemas.openxmlformats.org/officeDocument/2006/relationships/font" Target="fonts/LexendMedium-bold.fntdata"/><Relationship Id="rId13" Type="http://schemas.openxmlformats.org/officeDocument/2006/relationships/slide" Target="slides/slide8.xml"/><Relationship Id="rId57" Type="http://schemas.openxmlformats.org/officeDocument/2006/relationships/font" Target="fonts/SUSELight-italic.fntdata"/><Relationship Id="rId12" Type="http://schemas.openxmlformats.org/officeDocument/2006/relationships/slide" Target="slides/slide7.xml"/><Relationship Id="rId56" Type="http://schemas.openxmlformats.org/officeDocument/2006/relationships/font" Target="fonts/SUSELight-bold.fntdata"/><Relationship Id="rId15" Type="http://schemas.openxmlformats.org/officeDocument/2006/relationships/slide" Target="slides/slide10.xml"/><Relationship Id="rId59" Type="http://schemas.openxmlformats.org/officeDocument/2006/relationships/font" Target="fonts/SUSESemiBold-regular.fntdata"/><Relationship Id="rId14" Type="http://schemas.openxmlformats.org/officeDocument/2006/relationships/slide" Target="slides/slide9.xml"/><Relationship Id="rId58" Type="http://schemas.openxmlformats.org/officeDocument/2006/relationships/font" Target="fonts/SUSELigh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19e5919a9669163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h19e5919a9669163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19e5919a9669163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19e5919a9669163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19e5919a9669163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19e5919a9669163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will need some way to translate from file/directory names to block addresses on the disk.</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h19e5919a9669163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h19e5919a9669163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19e5919a9669163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19e5919a9669163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will start by looking at the implementation of a very simple file system. This is the implementation that can be found in OSTEP as well.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19e5919a9669163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19e5919a9669163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27d2fa09ef6d48bc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27d2fa09ef6d48bc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19e5919a9669163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19e5919a9669163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start by talking about files. Obviously, their data must be stored in the blocks on the disk.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78f4966b7707bec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h78f4966b7707bec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also need to store where the corresponding data blocks of a file are. We can store that in the inode. However, storing the start and end assumes that the file’s data blocks are </a:t>
            </a:r>
            <a:r>
              <a:rPr lang="en"/>
              <a:t>continuous</a:t>
            </a:r>
            <a:r>
              <a:rPr lang="en"/>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78f4966b7707bec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h78f4966b7707bec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There’s a problem with requiring continuity. Say my disk is full. There’s one huge file which occupies half my disk (i was just lazy to put so many colors), and some other smaller ones. I want to clear up some space, so i delete some files that are useless to me.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27d2fa09ef6d48bc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h27d2fa09ef6d48b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now I have 7 blocks free. But if a new file that i download requires 6 blocks, I don’t have 6 continuous blocks. I don’t </a:t>
            </a:r>
            <a:r>
              <a:rPr lang="en"/>
              <a:t>want that. What do you mean I have 6 GB free but can’t download a 5 GB file? Ridiculous, right? Do you see where I’m going with this? Segmentation. What’s the alternative?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h27d2fa09ef6d48b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h27d2fa09ef6d48b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Paging! We will maintain the addresses of each data block.</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h27d2fa09ef6d48b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h27d2fa09ef6d48b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also need to know where the content of a file ends within a block, and how many data blocks are actually being used. For this, I will maintain the size as an integer. 32-bit lets the file be a maximum size of around 4GB. We want bigger files, so we will go with 64-bit. But more importantly, this doesn’t mean a file can be that large. File size is actually limited by the number of data blocks!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h27d2fa09ef6d48bc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h27d2fa09ef6d48bc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is this any different, though? You said don’t place the pointers in the inode, but now you’re just placing them in another block. Make it make sense.</a:t>
            </a:r>
            <a:br>
              <a:rPr lang="en"/>
            </a:br>
            <a:r>
              <a:rPr lang="en"/>
              <a:t>The difference is that this indirect block is only allocated ON DEMAND.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h27d2fa09ef6d48bc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h27d2fa09ef6d48bc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h27d2fa09ef6d48bc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h27d2fa09ef6d48bc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h27d2fa09ef6d48bc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h27d2fa09ef6d48bc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h27d2fa09ef6d48bc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h27d2fa09ef6d48bc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h27d2fa09ef6d48bc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h27d2fa09ef6d48bc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27d2fa09ef6d48bc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h27d2fa09ef6d48bc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27d2fa09ef6d48bc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h27d2fa09ef6d48bc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27d2fa09ef6d48bc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h27d2fa09ef6d48bc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27d2fa09ef6d48bc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h27d2fa09ef6d48bc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OSTEP splits bitmap blocks into inode bitmaps and data bitmaps. It’s not necessary to do so, though.</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h69111939593016b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h69111939593016b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27d2fa09ef6d48bc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h27d2fa09ef6d48bc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785ee8d143d8999e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785ee8d143d8999e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h19f6288951e839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h19f6288951e839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h69111939593016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h69111939593016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h69111939593016b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h69111939593016b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figure on the right is a soft link, and the figure on the left is a hard link.</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h69111939593016b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h69111939593016b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h27d2fa09ef6d48bc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h27d2fa09ef6d48b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h27d2fa09ef6d48bc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h27d2fa09ef6d48bc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logging and buffer cache layer are pretty significant, but are out of the scope of this tutorial. We will abstract that out and see how the inode layer interacts with the disk. We will touch up on some parts of the logging and bcache layers that are needed for your mp3.</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27d2fa09ef6d48bc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h27d2fa09ef6d48bc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NDIRECT+1 because the 1 is an indirect block. The [file name, inode number] we talked about is a struct dirent. Notice how in-memory inode references have a lock.</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h69111939593016b8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h69111939593016b8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h69111939593016b8_9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h69111939593016b8_9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h4b728ba573bb58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h4b728ba573bb58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h19e5919a9669163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h19e5919a9669163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h78f4966b7707be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h78f4966b7707be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4838600" y="2103300"/>
            <a:ext cx="3869400" cy="936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Lexend Medium"/>
                <a:ea typeface="Lexend Medium"/>
                <a:cs typeface="Lexend Medium"/>
                <a:sym typeface="Lexend Medium"/>
              </a:rPr>
              <a:t>Filesystems</a:t>
            </a:r>
            <a:endParaRPr>
              <a:latin typeface="Lexend Medium"/>
              <a:ea typeface="Lexend Medium"/>
              <a:cs typeface="Lexend Medium"/>
              <a:sym typeface="Lexend Medium"/>
            </a:endParaRPr>
          </a:p>
        </p:txBody>
      </p:sp>
      <p:pic>
        <p:nvPicPr>
          <p:cNvPr descr="the database is an icon vector. Isolated contour symbol illustration (Provided by Getty Images)" id="55" name="Google Shape;55;p13"/>
          <p:cNvPicPr preferRelativeResize="0"/>
          <p:nvPr/>
        </p:nvPicPr>
        <p:blipFill>
          <a:blip r:embed="rId3">
            <a:alphaModFix/>
          </a:blip>
          <a:stretch>
            <a:fillRect/>
          </a:stretch>
        </p:blipFill>
        <p:spPr>
          <a:xfrm>
            <a:off x="297075" y="602775"/>
            <a:ext cx="4032625" cy="4032625"/>
          </a:xfrm>
          <a:prstGeom prst="rect">
            <a:avLst/>
          </a:prstGeom>
          <a:noFill/>
          <a:ln>
            <a:noFill/>
          </a:ln>
        </p:spPr>
      </p:pic>
      <p:sp>
        <p:nvSpPr>
          <p:cNvPr id="56" name="Google Shape;56;p13"/>
          <p:cNvSpPr txBox="1"/>
          <p:nvPr/>
        </p:nvSpPr>
        <p:spPr>
          <a:xfrm>
            <a:off x="3494125" y="4330525"/>
            <a:ext cx="1758900" cy="5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SUSE Light"/>
                <a:ea typeface="SUSE Light"/>
                <a:cs typeface="SUSE Light"/>
                <a:sym typeface="SUSE Light"/>
              </a:rPr>
              <a:t>Random google search result for “filesystem”</a:t>
            </a:r>
            <a:endParaRPr sz="1200">
              <a:solidFill>
                <a:schemeClr val="dk2"/>
              </a:solidFill>
              <a:latin typeface="SUSE Light"/>
              <a:ea typeface="SUSE Light"/>
              <a:cs typeface="SUSE Light"/>
              <a:sym typeface="SUSE Light"/>
            </a:endParaRPr>
          </a:p>
        </p:txBody>
      </p:sp>
      <p:cxnSp>
        <p:nvCxnSpPr>
          <p:cNvPr id="57" name="Google Shape;57;p13"/>
          <p:cNvCxnSpPr/>
          <p:nvPr/>
        </p:nvCxnSpPr>
        <p:spPr>
          <a:xfrm rot="10800000">
            <a:off x="3416100" y="3986550"/>
            <a:ext cx="336000" cy="390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The third pillar of operating systems: Persistence</a:t>
            </a:r>
            <a:endParaRPr>
              <a:latin typeface="SUSE SemiBold"/>
              <a:ea typeface="SUSE SemiBold"/>
              <a:cs typeface="SUSE SemiBold"/>
              <a:sym typeface="SUSE SemiBold"/>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Data stored in the disk survives restarts.</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However, I/O operations on the disk are millions of times slower than those on RAM.</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Partly because disk I/O happens through interrupts (like I/O from any other device like your keyboard), whereas RAM can be accessed through a single instruction.</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The other factor being that the disk itself is slower due to how it’s designed.</a:t>
            </a:r>
            <a:endParaRPr>
              <a:latin typeface="SUSE"/>
              <a:ea typeface="SUSE"/>
              <a:cs typeface="SUSE"/>
              <a:sym typeface="SUSE"/>
            </a:endParaRPr>
          </a:p>
        </p:txBody>
      </p:sp>
      <p:pic>
        <p:nvPicPr>
          <p:cNvPr id="64" name="Google Shape;64;p14"/>
          <p:cNvPicPr preferRelativeResize="0"/>
          <p:nvPr/>
        </p:nvPicPr>
        <p:blipFill>
          <a:blip r:embed="rId3">
            <a:alphaModFix/>
          </a:blip>
          <a:stretch>
            <a:fillRect/>
          </a:stretch>
        </p:blipFill>
        <p:spPr>
          <a:xfrm>
            <a:off x="4484125" y="1152475"/>
            <a:ext cx="455075" cy="455075"/>
          </a:xfrm>
          <a:prstGeom prst="rect">
            <a:avLst/>
          </a:prstGeom>
          <a:noFill/>
          <a:ln>
            <a:noFill/>
          </a:ln>
        </p:spPr>
      </p:pic>
      <p:pic>
        <p:nvPicPr>
          <p:cNvPr id="65" name="Google Shape;65;p14"/>
          <p:cNvPicPr preferRelativeResize="0"/>
          <p:nvPr/>
        </p:nvPicPr>
        <p:blipFill>
          <a:blip r:embed="rId4">
            <a:alphaModFix/>
          </a:blip>
          <a:stretch>
            <a:fillRect/>
          </a:stretch>
        </p:blipFill>
        <p:spPr>
          <a:xfrm>
            <a:off x="1007619" y="2027569"/>
            <a:ext cx="644924" cy="455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343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How to access data on the disk?</a:t>
            </a:r>
            <a:endParaRPr>
              <a:latin typeface="SUSE SemiBold"/>
              <a:ea typeface="SUSE SemiBold"/>
              <a:cs typeface="SUSE SemiBold"/>
              <a:sym typeface="SUSE SemiBold"/>
            </a:endParaRPr>
          </a:p>
        </p:txBody>
      </p:sp>
      <p:sp>
        <p:nvSpPr>
          <p:cNvPr id="71" name="Google Shape;71;p15"/>
          <p:cNvSpPr txBox="1"/>
          <p:nvPr>
            <p:ph idx="1" type="body"/>
          </p:nvPr>
        </p:nvSpPr>
        <p:spPr>
          <a:xfrm>
            <a:off x="311700" y="1066500"/>
            <a:ext cx="8520600" cy="1106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SUSE"/>
                <a:ea typeface="SUSE"/>
                <a:cs typeface="SUSE"/>
                <a:sym typeface="SUSE"/>
              </a:rPr>
              <a:t>The disk is simply a linear array of memory. But unlike RAM, each byte doesn’t have its own address. Rather, they’re segmented into blocks (a contiguous segment of typically 512B or 4kB) </a:t>
            </a:r>
            <a:r>
              <a:rPr lang="en">
                <a:latin typeface="SUSE"/>
                <a:ea typeface="SUSE"/>
                <a:cs typeface="SUSE"/>
                <a:sym typeface="SUSE"/>
              </a:rPr>
              <a:t>and</a:t>
            </a:r>
            <a:r>
              <a:rPr lang="en">
                <a:latin typeface="SUSE"/>
                <a:ea typeface="SUSE"/>
                <a:cs typeface="SUSE"/>
                <a:sym typeface="SUSE"/>
              </a:rPr>
              <a:t> each block has its own address.</a:t>
            </a:r>
            <a:endParaRPr>
              <a:latin typeface="SUSE"/>
              <a:ea typeface="SUSE"/>
              <a:cs typeface="SUSE"/>
              <a:sym typeface="SUSE"/>
            </a:endParaRPr>
          </a:p>
        </p:txBody>
      </p:sp>
      <p:pic>
        <p:nvPicPr>
          <p:cNvPr id="72" name="Google Shape;72;p15"/>
          <p:cNvPicPr preferRelativeResize="0"/>
          <p:nvPr/>
        </p:nvPicPr>
        <p:blipFill>
          <a:blip r:embed="rId3">
            <a:alphaModFix/>
          </a:blip>
          <a:stretch>
            <a:fillRect/>
          </a:stretch>
        </p:blipFill>
        <p:spPr>
          <a:xfrm>
            <a:off x="1023938" y="2448675"/>
            <a:ext cx="7096125" cy="1419225"/>
          </a:xfrm>
          <a:prstGeom prst="rect">
            <a:avLst/>
          </a:prstGeom>
          <a:noFill/>
          <a:ln>
            <a:noFill/>
          </a:ln>
        </p:spPr>
      </p:pic>
      <p:sp>
        <p:nvSpPr>
          <p:cNvPr id="73" name="Google Shape;73;p15"/>
          <p:cNvSpPr txBox="1"/>
          <p:nvPr>
            <p:ph idx="1" type="body"/>
          </p:nvPr>
        </p:nvSpPr>
        <p:spPr>
          <a:xfrm>
            <a:off x="311700" y="4166400"/>
            <a:ext cx="8520600" cy="746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SUSE"/>
                <a:ea typeface="SUSE"/>
                <a:cs typeface="SUSE"/>
                <a:sym typeface="SUSE"/>
              </a:rPr>
              <a:t>To read or write data, you just give the block address and the data to read/write.</a:t>
            </a:r>
            <a:endParaRPr>
              <a:latin typeface="SUSE"/>
              <a:ea typeface="SUSE"/>
              <a:cs typeface="SUSE"/>
              <a:sym typeface="SUS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nvSpPr>
        <p:spPr>
          <a:xfrm>
            <a:off x="2075375" y="633175"/>
            <a:ext cx="4455600" cy="4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/home/crowtum/Desktop/balls.jar</a:t>
            </a:r>
            <a:endParaRPr sz="1800">
              <a:solidFill>
                <a:schemeClr val="dk2"/>
              </a:solidFill>
              <a:latin typeface="JetBrains Mono"/>
              <a:ea typeface="JetBrains Mono"/>
              <a:cs typeface="JetBrains Mono"/>
              <a:sym typeface="JetBrains Mono"/>
            </a:endParaRPr>
          </a:p>
        </p:txBody>
      </p:sp>
      <p:cxnSp>
        <p:nvCxnSpPr>
          <p:cNvPr id="79" name="Google Shape;79;p16"/>
          <p:cNvCxnSpPr/>
          <p:nvPr/>
        </p:nvCxnSpPr>
        <p:spPr>
          <a:xfrm>
            <a:off x="4299275" y="1227250"/>
            <a:ext cx="7800" cy="2063700"/>
          </a:xfrm>
          <a:prstGeom prst="straightConnector1">
            <a:avLst/>
          </a:prstGeom>
          <a:noFill/>
          <a:ln cap="flat" cmpd="sng" w="28575">
            <a:solidFill>
              <a:schemeClr val="dk2"/>
            </a:solidFill>
            <a:prstDash val="solid"/>
            <a:round/>
            <a:headEnd len="med" w="med" type="none"/>
            <a:tailEnd len="med" w="med" type="stealth"/>
          </a:ln>
        </p:spPr>
      </p:cxnSp>
      <p:sp>
        <p:nvSpPr>
          <p:cNvPr id="80" name="Google Shape;80;p16"/>
          <p:cNvSpPr txBox="1"/>
          <p:nvPr/>
        </p:nvSpPr>
        <p:spPr>
          <a:xfrm>
            <a:off x="3271325" y="3584025"/>
            <a:ext cx="2063700" cy="4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USE"/>
                <a:ea typeface="SUSE"/>
                <a:cs typeface="SUSE"/>
                <a:sym typeface="SUSE"/>
              </a:rPr>
              <a:t>Block 48 on disk 1</a:t>
            </a:r>
            <a:endParaRPr sz="1800">
              <a:solidFill>
                <a:schemeClr val="dk2"/>
              </a:solidFill>
              <a:latin typeface="SUSE"/>
              <a:ea typeface="SUSE"/>
              <a:cs typeface="SUSE"/>
              <a:sym typeface="SUSE"/>
            </a:endParaRPr>
          </a:p>
        </p:txBody>
      </p:sp>
      <p:sp>
        <p:nvSpPr>
          <p:cNvPr id="81" name="Google Shape;81;p16"/>
          <p:cNvSpPr txBox="1"/>
          <p:nvPr/>
        </p:nvSpPr>
        <p:spPr>
          <a:xfrm>
            <a:off x="4533800" y="1969900"/>
            <a:ext cx="10239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2"/>
                </a:solidFill>
                <a:latin typeface="SUSE SemiBold"/>
                <a:ea typeface="SUSE SemiBold"/>
                <a:cs typeface="SUSE SemiBold"/>
                <a:sym typeface="SUSE SemiBold"/>
              </a:rPr>
              <a:t>????</a:t>
            </a:r>
            <a:endParaRPr sz="2800">
              <a:solidFill>
                <a:schemeClr val="dk2"/>
              </a:solidFill>
              <a:latin typeface="SUSE SemiBold"/>
              <a:ea typeface="SUSE SemiBold"/>
              <a:cs typeface="SUSE SemiBold"/>
              <a:sym typeface="SUSE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nvSpPr>
        <p:spPr>
          <a:xfrm>
            <a:off x="4533800" y="1969900"/>
            <a:ext cx="10239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2"/>
                </a:solidFill>
                <a:latin typeface="SUSE SemiBold"/>
                <a:ea typeface="SUSE SemiBold"/>
                <a:cs typeface="SUSE SemiBold"/>
                <a:sym typeface="SUSE SemiBold"/>
              </a:rPr>
              <a:t>????</a:t>
            </a:r>
            <a:endParaRPr sz="2800">
              <a:solidFill>
                <a:schemeClr val="dk2"/>
              </a:solidFill>
              <a:latin typeface="SUSE SemiBold"/>
              <a:ea typeface="SUSE SemiBold"/>
              <a:cs typeface="SUSE SemiBold"/>
              <a:sym typeface="SUSE SemiBold"/>
            </a:endParaRPr>
          </a:p>
        </p:txBody>
      </p:sp>
      <p:cxnSp>
        <p:nvCxnSpPr>
          <p:cNvPr id="87" name="Google Shape;87;p17"/>
          <p:cNvCxnSpPr/>
          <p:nvPr/>
        </p:nvCxnSpPr>
        <p:spPr>
          <a:xfrm flipH="1" rot="10800000">
            <a:off x="3423800" y="2626475"/>
            <a:ext cx="1039800" cy="695700"/>
          </a:xfrm>
          <a:prstGeom prst="straightConnector1">
            <a:avLst/>
          </a:prstGeom>
          <a:noFill/>
          <a:ln cap="flat" cmpd="sng" w="9525">
            <a:solidFill>
              <a:schemeClr val="dk2"/>
            </a:solidFill>
            <a:prstDash val="solid"/>
            <a:round/>
            <a:headEnd len="med" w="med" type="none"/>
            <a:tailEnd len="med" w="med" type="triangle"/>
          </a:ln>
        </p:spPr>
      </p:cxnSp>
      <p:sp>
        <p:nvSpPr>
          <p:cNvPr id="88" name="Google Shape;88;p17"/>
          <p:cNvSpPr txBox="1"/>
          <p:nvPr/>
        </p:nvSpPr>
        <p:spPr>
          <a:xfrm>
            <a:off x="2141825" y="3322175"/>
            <a:ext cx="26031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dk2"/>
                </a:solidFill>
                <a:latin typeface="SUSE SemiBold"/>
                <a:ea typeface="SUSE SemiBold"/>
                <a:cs typeface="SUSE SemiBold"/>
                <a:sym typeface="SUSE SemiBold"/>
              </a:rPr>
              <a:t>The filesystem</a:t>
            </a:r>
            <a:endParaRPr sz="2900">
              <a:solidFill>
                <a:schemeClr val="dk2"/>
              </a:solidFill>
              <a:latin typeface="SUSE SemiBold"/>
              <a:ea typeface="SUSE SemiBold"/>
              <a:cs typeface="SUSE SemiBold"/>
              <a:sym typeface="SUSE SemiBold"/>
            </a:endParaRPr>
          </a:p>
        </p:txBody>
      </p:sp>
      <p:sp>
        <p:nvSpPr>
          <p:cNvPr id="89" name="Google Shape;89;p17"/>
          <p:cNvSpPr txBox="1"/>
          <p:nvPr/>
        </p:nvSpPr>
        <p:spPr>
          <a:xfrm>
            <a:off x="1594650" y="3931775"/>
            <a:ext cx="3892800" cy="4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SUSE Light"/>
                <a:ea typeface="SUSE Light"/>
                <a:cs typeface="SUSE Light"/>
                <a:sym typeface="SUSE Light"/>
              </a:rPr>
              <a:t>Software that runs as part of your kernel</a:t>
            </a:r>
            <a:endParaRPr sz="1600">
              <a:solidFill>
                <a:schemeClr val="dk2"/>
              </a:solidFill>
              <a:latin typeface="SUSE Light"/>
              <a:ea typeface="SUSE Light"/>
              <a:cs typeface="SUSE Light"/>
              <a:sym typeface="SUSE Light"/>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SUSE SemiBold"/>
                <a:ea typeface="SUSE SemiBold"/>
                <a:cs typeface="SUSE SemiBold"/>
                <a:sym typeface="SUSE SemiBold"/>
              </a:rPr>
              <a:t>Very simple filesystem (VSFS)</a:t>
            </a:r>
            <a:endParaRPr>
              <a:latin typeface="SUSE SemiBold"/>
              <a:ea typeface="SUSE SemiBold"/>
              <a:cs typeface="SUSE SemiBold"/>
              <a:sym typeface="SUSE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inode</a:t>
            </a:r>
            <a:endParaRPr>
              <a:latin typeface="SUSE SemiBold"/>
              <a:ea typeface="SUSE SemiBold"/>
              <a:cs typeface="SUSE SemiBold"/>
              <a:sym typeface="SUSE SemiBold"/>
            </a:endParaRPr>
          </a:p>
        </p:txBody>
      </p:sp>
      <p:sp>
        <p:nvSpPr>
          <p:cNvPr id="100" name="Google Shape;100;p19"/>
          <p:cNvSpPr txBox="1"/>
          <p:nvPr>
            <p:ph idx="1" type="body"/>
          </p:nvPr>
        </p:nvSpPr>
        <p:spPr>
          <a:xfrm>
            <a:off x="311700" y="1152475"/>
            <a:ext cx="8520600" cy="178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The most fundamental data structure in the filesystem.</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Short for index node, this is the data structure which contains </a:t>
            </a:r>
            <a:r>
              <a:rPr b="1" lang="en">
                <a:latin typeface="SUSE"/>
                <a:ea typeface="SUSE"/>
                <a:cs typeface="SUSE"/>
                <a:sym typeface="SUSE"/>
              </a:rPr>
              <a:t>metadata</a:t>
            </a:r>
            <a:r>
              <a:rPr lang="en">
                <a:latin typeface="SUSE"/>
                <a:ea typeface="SUSE"/>
                <a:cs typeface="SUSE"/>
                <a:sym typeface="SUSE"/>
              </a:rPr>
              <a:t> about all files and directories.</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Metadata includes last access time, last modification time, permissions, and more.</a:t>
            </a:r>
            <a:endParaRPr>
              <a:latin typeface="SUSE"/>
              <a:ea typeface="SUSE"/>
              <a:cs typeface="SUSE"/>
              <a:sym typeface="SUSE"/>
            </a:endParaRPr>
          </a:p>
        </p:txBody>
      </p:sp>
      <p:sp>
        <p:nvSpPr>
          <p:cNvPr id="101" name="Google Shape;101;p19"/>
          <p:cNvSpPr txBox="1"/>
          <p:nvPr/>
        </p:nvSpPr>
        <p:spPr>
          <a:xfrm>
            <a:off x="875475" y="3181475"/>
            <a:ext cx="4424400" cy="18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latin typeface="JetBrains Mono"/>
                <a:ea typeface="JetBrains Mono"/>
                <a:cs typeface="JetBrains Mono"/>
                <a:sym typeface="JetBrains Mono"/>
              </a:rPr>
              <a:t>struct</a:t>
            </a:r>
            <a:r>
              <a:rPr lang="en" sz="1800">
                <a:solidFill>
                  <a:schemeClr val="dk2"/>
                </a:solidFill>
                <a:latin typeface="JetBrains Mono"/>
                <a:ea typeface="JetBrains Mono"/>
                <a:cs typeface="JetBrains Mono"/>
                <a:sym typeface="JetBrains Mono"/>
              </a:rPr>
              <a:t> inode {</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u</a:t>
            </a:r>
            <a:r>
              <a:rPr lang="en" sz="1800">
                <a:solidFill>
                  <a:srgbClr val="0000FF"/>
                </a:solidFill>
                <a:latin typeface="JetBrains Mono"/>
                <a:ea typeface="JetBrains Mono"/>
                <a:cs typeface="JetBrains Mono"/>
                <a:sym typeface="JetBrains Mono"/>
              </a:rPr>
              <a:t>int64</a:t>
            </a:r>
            <a:r>
              <a:rPr lang="en" sz="1800">
                <a:solidFill>
                  <a:schemeClr val="dk2"/>
                </a:solidFill>
                <a:latin typeface="JetBrains Mono"/>
                <a:ea typeface="JetBrains Mono"/>
                <a:cs typeface="JetBrains Mono"/>
                <a:sym typeface="JetBrains Mono"/>
              </a:rPr>
              <a:t> ctime, atime, mtime;</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s</a:t>
            </a:r>
            <a:r>
              <a:rPr lang="en" sz="1800">
                <a:solidFill>
                  <a:srgbClr val="0000FF"/>
                </a:solidFill>
                <a:latin typeface="JetBrains Mono"/>
                <a:ea typeface="JetBrains Mono"/>
                <a:cs typeface="JetBrains Mono"/>
                <a:sym typeface="JetBrains Mono"/>
              </a:rPr>
              <a:t>hort</a:t>
            </a:r>
            <a:r>
              <a:rPr lang="en" sz="1800">
                <a:solidFill>
                  <a:schemeClr val="dk2"/>
                </a:solidFill>
                <a:latin typeface="JetBrains Mono"/>
                <a:ea typeface="JetBrains Mono"/>
                <a:cs typeface="JetBrains Mono"/>
                <a:sym typeface="JetBrains Mono"/>
              </a:rPr>
              <a:t> permissions;</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p:txBody>
      </p:sp>
      <p:cxnSp>
        <p:nvCxnSpPr>
          <p:cNvPr id="102" name="Google Shape;102;p19"/>
          <p:cNvCxnSpPr/>
          <p:nvPr/>
        </p:nvCxnSpPr>
        <p:spPr>
          <a:xfrm rot="10800000">
            <a:off x="2462375" y="4283725"/>
            <a:ext cx="3642600" cy="312600"/>
          </a:xfrm>
          <a:prstGeom prst="straightConnector1">
            <a:avLst/>
          </a:prstGeom>
          <a:noFill/>
          <a:ln cap="flat" cmpd="sng" w="9525">
            <a:solidFill>
              <a:schemeClr val="dk2"/>
            </a:solidFill>
            <a:prstDash val="solid"/>
            <a:round/>
            <a:headEnd len="med" w="med" type="none"/>
            <a:tailEnd len="med" w="med" type="triangle"/>
          </a:ln>
        </p:spPr>
      </p:cxnSp>
      <p:sp>
        <p:nvSpPr>
          <p:cNvPr id="103" name="Google Shape;103;p19"/>
          <p:cNvSpPr txBox="1"/>
          <p:nvPr/>
        </p:nvSpPr>
        <p:spPr>
          <a:xfrm>
            <a:off x="6159700" y="4381850"/>
            <a:ext cx="1133400" cy="41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SUSE Light"/>
                <a:ea typeface="SUSE Light"/>
                <a:cs typeface="SUSE Light"/>
                <a:sym typeface="SUSE Light"/>
              </a:rPr>
              <a:t>what else?</a:t>
            </a:r>
            <a:endParaRPr sz="1600">
              <a:solidFill>
                <a:schemeClr val="dk2"/>
              </a:solidFill>
              <a:latin typeface="SUSE Light"/>
              <a:ea typeface="SUSE Light"/>
              <a:cs typeface="SUSE Light"/>
              <a:sym typeface="SUSE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inode</a:t>
            </a:r>
            <a:endParaRPr>
              <a:latin typeface="SUSE SemiBold"/>
              <a:ea typeface="SUSE SemiBold"/>
              <a:cs typeface="SUSE SemiBold"/>
              <a:sym typeface="SUSE SemiBold"/>
            </a:endParaRPr>
          </a:p>
        </p:txBody>
      </p:sp>
      <p:sp>
        <p:nvSpPr>
          <p:cNvPr id="109" name="Google Shape;109;p20"/>
          <p:cNvSpPr txBox="1"/>
          <p:nvPr>
            <p:ph idx="1" type="body"/>
          </p:nvPr>
        </p:nvSpPr>
        <p:spPr>
          <a:xfrm>
            <a:off x="311700" y="1152475"/>
            <a:ext cx="8520600" cy="178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This struct also needs to be stored on the disk.</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Therefore we will classify disk blocks into </a:t>
            </a:r>
            <a:r>
              <a:rPr b="1" lang="en">
                <a:latin typeface="SUSE"/>
                <a:ea typeface="SUSE"/>
                <a:cs typeface="SUSE"/>
                <a:sym typeface="SUSE"/>
              </a:rPr>
              <a:t>data blocks</a:t>
            </a:r>
            <a:r>
              <a:rPr lang="en">
                <a:latin typeface="SUSE"/>
                <a:ea typeface="SUSE"/>
                <a:cs typeface="SUSE"/>
                <a:sym typeface="SUSE"/>
              </a:rPr>
              <a:t> (where data is stored) and </a:t>
            </a:r>
            <a:r>
              <a:rPr b="1" lang="en">
                <a:latin typeface="SUSE"/>
                <a:ea typeface="SUSE"/>
                <a:cs typeface="SUSE"/>
                <a:sym typeface="SUSE"/>
              </a:rPr>
              <a:t>inode blocks</a:t>
            </a:r>
            <a:r>
              <a:rPr lang="en">
                <a:latin typeface="SUSE"/>
                <a:ea typeface="SUSE"/>
                <a:cs typeface="SUSE"/>
                <a:sym typeface="SUSE"/>
              </a:rPr>
              <a:t> (where inodes are stored).</a:t>
            </a:r>
            <a:endParaRPr>
              <a:latin typeface="SUSE"/>
              <a:ea typeface="SUSE"/>
              <a:cs typeface="SUSE"/>
              <a:sym typeface="SUSE"/>
            </a:endParaRPr>
          </a:p>
        </p:txBody>
      </p:sp>
      <p:sp>
        <p:nvSpPr>
          <p:cNvPr id="110" name="Google Shape;110;p20"/>
          <p:cNvSpPr txBox="1"/>
          <p:nvPr/>
        </p:nvSpPr>
        <p:spPr>
          <a:xfrm>
            <a:off x="875475" y="3181475"/>
            <a:ext cx="4424400" cy="18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latin typeface="JetBrains Mono"/>
                <a:ea typeface="JetBrains Mono"/>
                <a:cs typeface="JetBrains Mono"/>
                <a:sym typeface="JetBrains Mono"/>
              </a:rPr>
              <a:t>struct</a:t>
            </a:r>
            <a:r>
              <a:rPr lang="en" sz="1800">
                <a:solidFill>
                  <a:schemeClr val="dk2"/>
                </a:solidFill>
                <a:latin typeface="JetBrains Mono"/>
                <a:ea typeface="JetBrains Mono"/>
                <a:cs typeface="JetBrains Mono"/>
                <a:sym typeface="JetBrains Mono"/>
              </a:rPr>
              <a:t> inode {</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uint64</a:t>
            </a:r>
            <a:r>
              <a:rPr lang="en" sz="1800">
                <a:solidFill>
                  <a:schemeClr val="dk2"/>
                </a:solidFill>
                <a:latin typeface="JetBrains Mono"/>
                <a:ea typeface="JetBrains Mono"/>
                <a:cs typeface="JetBrains Mono"/>
                <a:sym typeface="JetBrains Mono"/>
              </a:rPr>
              <a:t> ctime, atime, mtime;</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short</a:t>
            </a:r>
            <a:r>
              <a:rPr lang="en" sz="1800">
                <a:solidFill>
                  <a:schemeClr val="dk2"/>
                </a:solidFill>
                <a:latin typeface="JetBrains Mono"/>
                <a:ea typeface="JetBrains Mono"/>
                <a:cs typeface="JetBrains Mono"/>
                <a:sym typeface="JetBrains Mono"/>
              </a:rPr>
              <a:t> permissions;</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Files extend beyond a single data block</a:t>
            </a:r>
            <a:endParaRPr>
              <a:latin typeface="SUSE SemiBold"/>
              <a:ea typeface="SUSE SemiBold"/>
              <a:cs typeface="SUSE SemiBold"/>
              <a:sym typeface="SUSE SemiBold"/>
            </a:endParaRPr>
          </a:p>
        </p:txBody>
      </p:sp>
      <p:sp>
        <p:nvSpPr>
          <p:cNvPr id="116" name="Google Shape;116;p21"/>
          <p:cNvSpPr txBox="1"/>
          <p:nvPr>
            <p:ph idx="1" type="body"/>
          </p:nvPr>
        </p:nvSpPr>
        <p:spPr>
          <a:xfrm>
            <a:off x="311700" y="1152475"/>
            <a:ext cx="8520600" cy="164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The block size is at most 4kB and we’d like to have larger files than that.</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We can’t simply increase block size since if you have 1GB blocks and a 2MB file, you’re wasting 998MB on disk.</a:t>
            </a:r>
            <a:endParaRPr>
              <a:latin typeface="SUSE"/>
              <a:ea typeface="SUSE"/>
              <a:cs typeface="SUSE"/>
              <a:sym typeface="SUSE"/>
            </a:endParaRPr>
          </a:p>
        </p:txBody>
      </p:sp>
      <p:pic>
        <p:nvPicPr>
          <p:cNvPr id="117" name="Google Shape;117;p21"/>
          <p:cNvPicPr preferRelativeResize="0"/>
          <p:nvPr/>
        </p:nvPicPr>
        <p:blipFill>
          <a:blip r:embed="rId3">
            <a:alphaModFix/>
          </a:blip>
          <a:stretch>
            <a:fillRect/>
          </a:stretch>
        </p:blipFill>
        <p:spPr>
          <a:xfrm>
            <a:off x="984838" y="2839500"/>
            <a:ext cx="7096125" cy="1419225"/>
          </a:xfrm>
          <a:prstGeom prst="rect">
            <a:avLst/>
          </a:prstGeom>
          <a:noFill/>
          <a:ln>
            <a:noFill/>
          </a:ln>
        </p:spPr>
      </p:pic>
      <p:sp>
        <p:nvSpPr>
          <p:cNvPr id="118" name="Google Shape;118;p21"/>
          <p:cNvSpPr/>
          <p:nvPr/>
        </p:nvSpPr>
        <p:spPr>
          <a:xfrm>
            <a:off x="39438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p:nvPr/>
        </p:nvSpPr>
        <p:spPr>
          <a:xfrm>
            <a:off x="41376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21"/>
          <p:cNvSpPr/>
          <p:nvPr/>
        </p:nvSpPr>
        <p:spPr>
          <a:xfrm>
            <a:off x="434735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21"/>
          <p:cNvSpPr/>
          <p:nvPr/>
        </p:nvSpPr>
        <p:spPr>
          <a:xfrm>
            <a:off x="46431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21"/>
          <p:cNvSpPr/>
          <p:nvPr/>
        </p:nvSpPr>
        <p:spPr>
          <a:xfrm>
            <a:off x="4843275"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2"/>
          <p:cNvPicPr preferRelativeResize="0"/>
          <p:nvPr/>
        </p:nvPicPr>
        <p:blipFill>
          <a:blip r:embed="rId3">
            <a:alphaModFix/>
          </a:blip>
          <a:stretch>
            <a:fillRect/>
          </a:stretch>
        </p:blipFill>
        <p:spPr>
          <a:xfrm>
            <a:off x="984838" y="2839500"/>
            <a:ext cx="7096125" cy="1419225"/>
          </a:xfrm>
          <a:prstGeom prst="rect">
            <a:avLst/>
          </a:prstGeom>
          <a:noFill/>
          <a:ln>
            <a:noFill/>
          </a:ln>
        </p:spPr>
      </p:pic>
      <p:sp>
        <p:nvSpPr>
          <p:cNvPr id="128" name="Google Shape;128;p22"/>
          <p:cNvSpPr/>
          <p:nvPr/>
        </p:nvSpPr>
        <p:spPr>
          <a:xfrm>
            <a:off x="39438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2"/>
          <p:cNvSpPr/>
          <p:nvPr/>
        </p:nvSpPr>
        <p:spPr>
          <a:xfrm>
            <a:off x="41376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22"/>
          <p:cNvSpPr/>
          <p:nvPr/>
        </p:nvSpPr>
        <p:spPr>
          <a:xfrm>
            <a:off x="434735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22"/>
          <p:cNvSpPr/>
          <p:nvPr/>
        </p:nvSpPr>
        <p:spPr>
          <a:xfrm>
            <a:off x="46431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22"/>
          <p:cNvSpPr/>
          <p:nvPr/>
        </p:nvSpPr>
        <p:spPr>
          <a:xfrm>
            <a:off x="4843275"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2"/>
          <p:cNvSpPr txBox="1"/>
          <p:nvPr/>
        </p:nvSpPr>
        <p:spPr>
          <a:xfrm>
            <a:off x="812975" y="234525"/>
            <a:ext cx="4424400" cy="18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latin typeface="JetBrains Mono"/>
                <a:ea typeface="JetBrains Mono"/>
                <a:cs typeface="JetBrains Mono"/>
                <a:sym typeface="JetBrains Mono"/>
              </a:rPr>
              <a:t>struct</a:t>
            </a:r>
            <a:r>
              <a:rPr lang="en" sz="1800">
                <a:solidFill>
                  <a:schemeClr val="dk2"/>
                </a:solidFill>
                <a:latin typeface="JetBrains Mono"/>
                <a:ea typeface="JetBrains Mono"/>
                <a:cs typeface="JetBrains Mono"/>
                <a:sym typeface="JetBrains Mono"/>
              </a:rPr>
              <a:t> inode {</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uint64</a:t>
            </a:r>
            <a:r>
              <a:rPr lang="en" sz="1800">
                <a:solidFill>
                  <a:schemeClr val="dk2"/>
                </a:solidFill>
                <a:latin typeface="JetBrains Mono"/>
                <a:ea typeface="JetBrains Mono"/>
                <a:cs typeface="JetBrains Mono"/>
                <a:sym typeface="JetBrains Mono"/>
              </a:rPr>
              <a:t> ctime, atime, mtime;</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short</a:t>
            </a:r>
            <a:r>
              <a:rPr lang="en" sz="1800">
                <a:solidFill>
                  <a:schemeClr val="dk2"/>
                </a:solidFill>
                <a:latin typeface="JetBrains Mono"/>
                <a:ea typeface="JetBrains Mono"/>
                <a:cs typeface="JetBrains Mono"/>
                <a:sym typeface="JetBrains Mono"/>
              </a:rPr>
              <a:t> permissions;</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b="1" lang="en" sz="1800">
                <a:solidFill>
                  <a:srgbClr val="0000FF"/>
                </a:solidFill>
                <a:latin typeface="JetBrains Mono"/>
                <a:ea typeface="JetBrains Mono"/>
                <a:cs typeface="JetBrains Mono"/>
                <a:sym typeface="JetBrains Mono"/>
              </a:rPr>
              <a:t>i</a:t>
            </a:r>
            <a:r>
              <a:rPr b="1" lang="en" sz="1800">
                <a:solidFill>
                  <a:srgbClr val="0000FF"/>
                </a:solidFill>
                <a:latin typeface="JetBrains Mono"/>
                <a:ea typeface="JetBrains Mono"/>
                <a:cs typeface="JetBrains Mono"/>
                <a:sym typeface="JetBrains Mono"/>
              </a:rPr>
              <a:t>nt</a:t>
            </a:r>
            <a:r>
              <a:rPr b="1" lang="en" sz="1800">
                <a:solidFill>
                  <a:schemeClr val="dk2"/>
                </a:solidFill>
                <a:latin typeface="JetBrains Mono"/>
                <a:ea typeface="JetBrains Mono"/>
                <a:cs typeface="JetBrains Mono"/>
                <a:sym typeface="JetBrains Mono"/>
              </a:rPr>
              <a:t> startblock, endblock;</a:t>
            </a:r>
            <a:endParaRPr b="1"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p:txBody>
      </p:sp>
      <p:cxnSp>
        <p:nvCxnSpPr>
          <p:cNvPr id="134" name="Google Shape;134;p22"/>
          <p:cNvCxnSpPr>
            <a:endCxn id="128" idx="0"/>
          </p:cNvCxnSpPr>
          <p:nvPr/>
        </p:nvCxnSpPr>
        <p:spPr>
          <a:xfrm>
            <a:off x="3048600" y="1531975"/>
            <a:ext cx="971700" cy="1529400"/>
          </a:xfrm>
          <a:prstGeom prst="straightConnector1">
            <a:avLst/>
          </a:prstGeom>
          <a:noFill/>
          <a:ln cap="flat" cmpd="sng" w="28575">
            <a:solidFill>
              <a:schemeClr val="dk2"/>
            </a:solidFill>
            <a:prstDash val="solid"/>
            <a:round/>
            <a:headEnd len="med" w="med" type="none"/>
            <a:tailEnd len="med" w="med" type="triangle"/>
          </a:ln>
        </p:spPr>
      </p:cxnSp>
      <p:cxnSp>
        <p:nvCxnSpPr>
          <p:cNvPr id="135" name="Google Shape;135;p22"/>
          <p:cNvCxnSpPr>
            <a:endCxn id="132" idx="0"/>
          </p:cNvCxnSpPr>
          <p:nvPr/>
        </p:nvCxnSpPr>
        <p:spPr>
          <a:xfrm>
            <a:off x="4213275" y="1461775"/>
            <a:ext cx="706500" cy="15996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3"/>
          <p:cNvPicPr preferRelativeResize="0"/>
          <p:nvPr/>
        </p:nvPicPr>
        <p:blipFill>
          <a:blip r:embed="rId3">
            <a:alphaModFix/>
          </a:blip>
          <a:stretch>
            <a:fillRect/>
          </a:stretch>
        </p:blipFill>
        <p:spPr>
          <a:xfrm>
            <a:off x="984838" y="2839500"/>
            <a:ext cx="7096125" cy="1419225"/>
          </a:xfrm>
          <a:prstGeom prst="rect">
            <a:avLst/>
          </a:prstGeom>
          <a:noFill/>
          <a:ln>
            <a:noFill/>
          </a:ln>
        </p:spPr>
      </p:pic>
      <p:sp>
        <p:nvSpPr>
          <p:cNvPr id="141" name="Google Shape;141;p23"/>
          <p:cNvSpPr/>
          <p:nvPr/>
        </p:nvSpPr>
        <p:spPr>
          <a:xfrm>
            <a:off x="39438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3"/>
          <p:cNvSpPr/>
          <p:nvPr/>
        </p:nvSpPr>
        <p:spPr>
          <a:xfrm>
            <a:off x="41376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3"/>
          <p:cNvSpPr/>
          <p:nvPr/>
        </p:nvSpPr>
        <p:spPr>
          <a:xfrm>
            <a:off x="434735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3"/>
          <p:cNvSpPr/>
          <p:nvPr/>
        </p:nvSpPr>
        <p:spPr>
          <a:xfrm>
            <a:off x="46431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3"/>
          <p:cNvSpPr/>
          <p:nvPr/>
        </p:nvSpPr>
        <p:spPr>
          <a:xfrm>
            <a:off x="4843275"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3"/>
          <p:cNvSpPr/>
          <p:nvPr/>
        </p:nvSpPr>
        <p:spPr>
          <a:xfrm>
            <a:off x="375000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3"/>
          <p:cNvSpPr/>
          <p:nvPr/>
        </p:nvSpPr>
        <p:spPr>
          <a:xfrm>
            <a:off x="355620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3"/>
          <p:cNvSpPr/>
          <p:nvPr/>
        </p:nvSpPr>
        <p:spPr>
          <a:xfrm>
            <a:off x="334720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3"/>
          <p:cNvSpPr/>
          <p:nvPr/>
        </p:nvSpPr>
        <p:spPr>
          <a:xfrm>
            <a:off x="31526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3"/>
          <p:cNvSpPr/>
          <p:nvPr/>
        </p:nvSpPr>
        <p:spPr>
          <a:xfrm>
            <a:off x="294440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3"/>
          <p:cNvSpPr/>
          <p:nvPr/>
        </p:nvSpPr>
        <p:spPr>
          <a:xfrm>
            <a:off x="26522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23"/>
          <p:cNvSpPr/>
          <p:nvPr/>
        </p:nvSpPr>
        <p:spPr>
          <a:xfrm>
            <a:off x="24536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3"/>
          <p:cNvSpPr/>
          <p:nvPr/>
        </p:nvSpPr>
        <p:spPr>
          <a:xfrm>
            <a:off x="22598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3"/>
          <p:cNvSpPr/>
          <p:nvPr/>
        </p:nvSpPr>
        <p:spPr>
          <a:xfrm>
            <a:off x="20508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3"/>
          <p:cNvSpPr/>
          <p:nvPr/>
        </p:nvSpPr>
        <p:spPr>
          <a:xfrm>
            <a:off x="185630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23"/>
          <p:cNvSpPr/>
          <p:nvPr/>
        </p:nvSpPr>
        <p:spPr>
          <a:xfrm>
            <a:off x="16617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3"/>
          <p:cNvSpPr/>
          <p:nvPr/>
        </p:nvSpPr>
        <p:spPr>
          <a:xfrm>
            <a:off x="1462025" y="3061375"/>
            <a:ext cx="153000" cy="140100"/>
          </a:xfrm>
          <a:prstGeom prst="rect">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23"/>
          <p:cNvSpPr/>
          <p:nvPr/>
        </p:nvSpPr>
        <p:spPr>
          <a:xfrm>
            <a:off x="1262300" y="3061375"/>
            <a:ext cx="153000" cy="140100"/>
          </a:xfrm>
          <a:prstGeom prst="rect">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3"/>
          <p:cNvSpPr/>
          <p:nvPr/>
        </p:nvSpPr>
        <p:spPr>
          <a:xfrm>
            <a:off x="12623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23"/>
          <p:cNvSpPr/>
          <p:nvPr/>
        </p:nvSpPr>
        <p:spPr>
          <a:xfrm>
            <a:off x="14620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23"/>
          <p:cNvSpPr/>
          <p:nvPr/>
        </p:nvSpPr>
        <p:spPr>
          <a:xfrm>
            <a:off x="16617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3"/>
          <p:cNvSpPr/>
          <p:nvPr/>
        </p:nvSpPr>
        <p:spPr>
          <a:xfrm>
            <a:off x="18563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3"/>
          <p:cNvSpPr/>
          <p:nvPr/>
        </p:nvSpPr>
        <p:spPr>
          <a:xfrm>
            <a:off x="20561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3"/>
          <p:cNvSpPr/>
          <p:nvPr/>
        </p:nvSpPr>
        <p:spPr>
          <a:xfrm>
            <a:off x="2254888"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3"/>
          <p:cNvSpPr/>
          <p:nvPr/>
        </p:nvSpPr>
        <p:spPr>
          <a:xfrm>
            <a:off x="24536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3"/>
          <p:cNvSpPr/>
          <p:nvPr/>
        </p:nvSpPr>
        <p:spPr>
          <a:xfrm>
            <a:off x="2652388"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3"/>
          <p:cNvSpPr/>
          <p:nvPr/>
        </p:nvSpPr>
        <p:spPr>
          <a:xfrm>
            <a:off x="29488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3"/>
          <p:cNvSpPr/>
          <p:nvPr/>
        </p:nvSpPr>
        <p:spPr>
          <a:xfrm>
            <a:off x="31485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3"/>
          <p:cNvSpPr/>
          <p:nvPr/>
        </p:nvSpPr>
        <p:spPr>
          <a:xfrm>
            <a:off x="33483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3"/>
          <p:cNvSpPr/>
          <p:nvPr/>
        </p:nvSpPr>
        <p:spPr>
          <a:xfrm>
            <a:off x="35428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3"/>
          <p:cNvSpPr/>
          <p:nvPr/>
        </p:nvSpPr>
        <p:spPr>
          <a:xfrm>
            <a:off x="37426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3"/>
          <p:cNvSpPr/>
          <p:nvPr/>
        </p:nvSpPr>
        <p:spPr>
          <a:xfrm>
            <a:off x="3941438"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3"/>
          <p:cNvSpPr/>
          <p:nvPr/>
        </p:nvSpPr>
        <p:spPr>
          <a:xfrm>
            <a:off x="41402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3"/>
          <p:cNvSpPr/>
          <p:nvPr/>
        </p:nvSpPr>
        <p:spPr>
          <a:xfrm>
            <a:off x="4338938"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3"/>
          <p:cNvSpPr/>
          <p:nvPr/>
        </p:nvSpPr>
        <p:spPr>
          <a:xfrm>
            <a:off x="46404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3"/>
          <p:cNvSpPr/>
          <p:nvPr/>
        </p:nvSpPr>
        <p:spPr>
          <a:xfrm>
            <a:off x="48402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3"/>
          <p:cNvSpPr/>
          <p:nvPr/>
        </p:nvSpPr>
        <p:spPr>
          <a:xfrm>
            <a:off x="50399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3"/>
          <p:cNvSpPr/>
          <p:nvPr/>
        </p:nvSpPr>
        <p:spPr>
          <a:xfrm>
            <a:off x="52344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23"/>
          <p:cNvSpPr/>
          <p:nvPr/>
        </p:nvSpPr>
        <p:spPr>
          <a:xfrm>
            <a:off x="54343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3"/>
          <p:cNvSpPr/>
          <p:nvPr/>
        </p:nvSpPr>
        <p:spPr>
          <a:xfrm>
            <a:off x="5633063"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3"/>
          <p:cNvSpPr/>
          <p:nvPr/>
        </p:nvSpPr>
        <p:spPr>
          <a:xfrm>
            <a:off x="58318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23"/>
          <p:cNvSpPr/>
          <p:nvPr/>
        </p:nvSpPr>
        <p:spPr>
          <a:xfrm>
            <a:off x="6030563"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3"/>
          <p:cNvSpPr/>
          <p:nvPr/>
        </p:nvSpPr>
        <p:spPr>
          <a:xfrm>
            <a:off x="63199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23"/>
          <p:cNvSpPr/>
          <p:nvPr/>
        </p:nvSpPr>
        <p:spPr>
          <a:xfrm>
            <a:off x="65196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23"/>
          <p:cNvSpPr/>
          <p:nvPr/>
        </p:nvSpPr>
        <p:spPr>
          <a:xfrm>
            <a:off x="67193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3"/>
          <p:cNvSpPr/>
          <p:nvPr/>
        </p:nvSpPr>
        <p:spPr>
          <a:xfrm>
            <a:off x="69139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23"/>
          <p:cNvSpPr/>
          <p:nvPr/>
        </p:nvSpPr>
        <p:spPr>
          <a:xfrm>
            <a:off x="71137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3"/>
          <p:cNvSpPr/>
          <p:nvPr/>
        </p:nvSpPr>
        <p:spPr>
          <a:xfrm>
            <a:off x="7312513"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3"/>
          <p:cNvSpPr/>
          <p:nvPr/>
        </p:nvSpPr>
        <p:spPr>
          <a:xfrm>
            <a:off x="75112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3"/>
          <p:cNvSpPr/>
          <p:nvPr/>
        </p:nvSpPr>
        <p:spPr>
          <a:xfrm>
            <a:off x="7710013"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3"/>
          <p:cNvSpPr/>
          <p:nvPr/>
        </p:nvSpPr>
        <p:spPr>
          <a:xfrm>
            <a:off x="5036425" y="3066625"/>
            <a:ext cx="153000" cy="140100"/>
          </a:xfrm>
          <a:prstGeom prst="rect">
            <a:avLst/>
          </a:prstGeom>
          <a:solidFill>
            <a:srgbClr val="CC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3"/>
          <p:cNvSpPr/>
          <p:nvPr/>
        </p:nvSpPr>
        <p:spPr>
          <a:xfrm>
            <a:off x="5229575" y="3066625"/>
            <a:ext cx="153000" cy="140100"/>
          </a:xfrm>
          <a:prstGeom prst="rect">
            <a:avLst/>
          </a:prstGeom>
          <a:solidFill>
            <a:srgbClr val="CC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3"/>
          <p:cNvSpPr/>
          <p:nvPr/>
        </p:nvSpPr>
        <p:spPr>
          <a:xfrm>
            <a:off x="5429750" y="3066625"/>
            <a:ext cx="153000" cy="140100"/>
          </a:xfrm>
          <a:prstGeom prst="rect">
            <a:avLst/>
          </a:prstGeom>
          <a:solidFill>
            <a:srgbClr val="CC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3"/>
          <p:cNvSpPr/>
          <p:nvPr/>
        </p:nvSpPr>
        <p:spPr>
          <a:xfrm>
            <a:off x="5629925" y="3066625"/>
            <a:ext cx="153000" cy="140100"/>
          </a:xfrm>
          <a:prstGeom prst="rect">
            <a:avLst/>
          </a:prstGeom>
          <a:solidFill>
            <a:srgbClr val="FF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3"/>
          <p:cNvSpPr/>
          <p:nvPr/>
        </p:nvSpPr>
        <p:spPr>
          <a:xfrm>
            <a:off x="5830100" y="3066625"/>
            <a:ext cx="153000" cy="140100"/>
          </a:xfrm>
          <a:prstGeom prst="rect">
            <a:avLst/>
          </a:prstGeom>
          <a:solidFill>
            <a:srgbClr val="FF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3"/>
          <p:cNvSpPr/>
          <p:nvPr/>
        </p:nvSpPr>
        <p:spPr>
          <a:xfrm>
            <a:off x="6030275" y="3066625"/>
            <a:ext cx="153000" cy="140100"/>
          </a:xfrm>
          <a:prstGeom prst="rect">
            <a:avLst/>
          </a:prstGeom>
          <a:solidFill>
            <a:srgbClr val="FF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3"/>
          <p:cNvSpPr/>
          <p:nvPr/>
        </p:nvSpPr>
        <p:spPr>
          <a:xfrm>
            <a:off x="6331350" y="3061375"/>
            <a:ext cx="153000" cy="1401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3"/>
          <p:cNvSpPr/>
          <p:nvPr/>
        </p:nvSpPr>
        <p:spPr>
          <a:xfrm>
            <a:off x="6525050" y="3066625"/>
            <a:ext cx="153000" cy="1401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3"/>
          <p:cNvSpPr/>
          <p:nvPr/>
        </p:nvSpPr>
        <p:spPr>
          <a:xfrm>
            <a:off x="671875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3"/>
          <p:cNvSpPr/>
          <p:nvPr/>
        </p:nvSpPr>
        <p:spPr>
          <a:xfrm>
            <a:off x="692020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3"/>
          <p:cNvSpPr/>
          <p:nvPr/>
        </p:nvSpPr>
        <p:spPr>
          <a:xfrm>
            <a:off x="712165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23"/>
          <p:cNvSpPr/>
          <p:nvPr/>
        </p:nvSpPr>
        <p:spPr>
          <a:xfrm>
            <a:off x="731535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23"/>
          <p:cNvSpPr/>
          <p:nvPr/>
        </p:nvSpPr>
        <p:spPr>
          <a:xfrm>
            <a:off x="750905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3"/>
          <p:cNvSpPr/>
          <p:nvPr/>
        </p:nvSpPr>
        <p:spPr>
          <a:xfrm>
            <a:off x="771825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57"/>
                                        </p:tgtEl>
                                      </p:cBhvr>
                                    </p:animEffect>
                                    <p:set>
                                      <p:cBhvr>
                                        <p:cTn dur="1" fill="hold">
                                          <p:stCondLst>
                                            <p:cond delay="1000"/>
                                          </p:stCondLst>
                                        </p:cTn>
                                        <p:tgtEl>
                                          <p:spTgt spid="15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58"/>
                                        </p:tgtEl>
                                      </p:cBhvr>
                                    </p:animEffect>
                                    <p:set>
                                      <p:cBhvr>
                                        <p:cTn dur="1" fill="hold">
                                          <p:stCondLst>
                                            <p:cond delay="1000"/>
                                          </p:stCondLst>
                                        </p:cTn>
                                        <p:tgtEl>
                                          <p:spTgt spid="15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91"/>
                                        </p:tgtEl>
                                      </p:cBhvr>
                                    </p:animEffect>
                                    <p:set>
                                      <p:cBhvr>
                                        <p:cTn dur="1" fill="hold">
                                          <p:stCondLst>
                                            <p:cond delay="1000"/>
                                          </p:stCondLst>
                                        </p:cTn>
                                        <p:tgtEl>
                                          <p:spTgt spid="19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92"/>
                                        </p:tgtEl>
                                      </p:cBhvr>
                                    </p:animEffect>
                                    <p:set>
                                      <p:cBhvr>
                                        <p:cTn dur="1" fill="hold">
                                          <p:stCondLst>
                                            <p:cond delay="1000"/>
                                          </p:stCondLst>
                                        </p:cTn>
                                        <p:tgtEl>
                                          <p:spTgt spid="19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93"/>
                                        </p:tgtEl>
                                      </p:cBhvr>
                                    </p:animEffect>
                                    <p:set>
                                      <p:cBhvr>
                                        <p:cTn dur="1" fill="hold">
                                          <p:stCondLst>
                                            <p:cond delay="1000"/>
                                          </p:stCondLst>
                                        </p:cTn>
                                        <p:tgtEl>
                                          <p:spTgt spid="19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97"/>
                                        </p:tgtEl>
                                      </p:cBhvr>
                                    </p:animEffect>
                                    <p:set>
                                      <p:cBhvr>
                                        <p:cTn dur="1" fill="hold">
                                          <p:stCondLst>
                                            <p:cond delay="1000"/>
                                          </p:stCondLst>
                                        </p:cTn>
                                        <p:tgtEl>
                                          <p:spTgt spid="19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98"/>
                                        </p:tgtEl>
                                      </p:cBhvr>
                                    </p:animEffect>
                                    <p:set>
                                      <p:cBhvr>
                                        <p:cTn dur="1" fill="hold">
                                          <p:stCondLst>
                                            <p:cond delay="1000"/>
                                          </p:stCondLst>
                                        </p:cTn>
                                        <p:tgtEl>
                                          <p:spTgt spid="19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24"/>
          <p:cNvPicPr preferRelativeResize="0"/>
          <p:nvPr/>
        </p:nvPicPr>
        <p:blipFill>
          <a:blip r:embed="rId3">
            <a:alphaModFix/>
          </a:blip>
          <a:stretch>
            <a:fillRect/>
          </a:stretch>
        </p:blipFill>
        <p:spPr>
          <a:xfrm>
            <a:off x="984838" y="2839500"/>
            <a:ext cx="7096125" cy="1419225"/>
          </a:xfrm>
          <a:prstGeom prst="rect">
            <a:avLst/>
          </a:prstGeom>
          <a:noFill/>
          <a:ln>
            <a:noFill/>
          </a:ln>
        </p:spPr>
      </p:pic>
      <p:sp>
        <p:nvSpPr>
          <p:cNvPr id="210" name="Google Shape;210;p24"/>
          <p:cNvSpPr/>
          <p:nvPr/>
        </p:nvSpPr>
        <p:spPr>
          <a:xfrm>
            <a:off x="39438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4"/>
          <p:cNvSpPr/>
          <p:nvPr/>
        </p:nvSpPr>
        <p:spPr>
          <a:xfrm>
            <a:off x="41376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24"/>
          <p:cNvSpPr/>
          <p:nvPr/>
        </p:nvSpPr>
        <p:spPr>
          <a:xfrm>
            <a:off x="434735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24"/>
          <p:cNvSpPr/>
          <p:nvPr/>
        </p:nvSpPr>
        <p:spPr>
          <a:xfrm>
            <a:off x="46431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4"/>
          <p:cNvSpPr/>
          <p:nvPr/>
        </p:nvSpPr>
        <p:spPr>
          <a:xfrm>
            <a:off x="4843275"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4"/>
          <p:cNvSpPr/>
          <p:nvPr/>
        </p:nvSpPr>
        <p:spPr>
          <a:xfrm>
            <a:off x="375000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4"/>
          <p:cNvSpPr/>
          <p:nvPr/>
        </p:nvSpPr>
        <p:spPr>
          <a:xfrm>
            <a:off x="355620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24"/>
          <p:cNvSpPr/>
          <p:nvPr/>
        </p:nvSpPr>
        <p:spPr>
          <a:xfrm>
            <a:off x="334720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24"/>
          <p:cNvSpPr/>
          <p:nvPr/>
        </p:nvSpPr>
        <p:spPr>
          <a:xfrm>
            <a:off x="31526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4"/>
          <p:cNvSpPr/>
          <p:nvPr/>
        </p:nvSpPr>
        <p:spPr>
          <a:xfrm>
            <a:off x="294440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24"/>
          <p:cNvSpPr/>
          <p:nvPr/>
        </p:nvSpPr>
        <p:spPr>
          <a:xfrm>
            <a:off x="26522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24"/>
          <p:cNvSpPr/>
          <p:nvPr/>
        </p:nvSpPr>
        <p:spPr>
          <a:xfrm>
            <a:off x="24536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24"/>
          <p:cNvSpPr/>
          <p:nvPr/>
        </p:nvSpPr>
        <p:spPr>
          <a:xfrm>
            <a:off x="22598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4"/>
          <p:cNvSpPr/>
          <p:nvPr/>
        </p:nvSpPr>
        <p:spPr>
          <a:xfrm>
            <a:off x="20508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4"/>
          <p:cNvSpPr/>
          <p:nvPr/>
        </p:nvSpPr>
        <p:spPr>
          <a:xfrm>
            <a:off x="185630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24"/>
          <p:cNvSpPr/>
          <p:nvPr/>
        </p:nvSpPr>
        <p:spPr>
          <a:xfrm>
            <a:off x="1661750" y="3061375"/>
            <a:ext cx="153000" cy="140100"/>
          </a:xfrm>
          <a:prstGeom prst="rect">
            <a:avLst/>
          </a:prstGeom>
          <a:solidFill>
            <a:srgbClr val="99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24"/>
          <p:cNvSpPr/>
          <p:nvPr/>
        </p:nvSpPr>
        <p:spPr>
          <a:xfrm>
            <a:off x="12623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24"/>
          <p:cNvSpPr/>
          <p:nvPr/>
        </p:nvSpPr>
        <p:spPr>
          <a:xfrm>
            <a:off x="14620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24"/>
          <p:cNvSpPr/>
          <p:nvPr/>
        </p:nvSpPr>
        <p:spPr>
          <a:xfrm>
            <a:off x="16617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24"/>
          <p:cNvSpPr/>
          <p:nvPr/>
        </p:nvSpPr>
        <p:spPr>
          <a:xfrm>
            <a:off x="18563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4"/>
          <p:cNvSpPr/>
          <p:nvPr/>
        </p:nvSpPr>
        <p:spPr>
          <a:xfrm>
            <a:off x="20561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4"/>
          <p:cNvSpPr/>
          <p:nvPr/>
        </p:nvSpPr>
        <p:spPr>
          <a:xfrm>
            <a:off x="2254888"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24"/>
          <p:cNvSpPr/>
          <p:nvPr/>
        </p:nvSpPr>
        <p:spPr>
          <a:xfrm>
            <a:off x="24536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24"/>
          <p:cNvSpPr/>
          <p:nvPr/>
        </p:nvSpPr>
        <p:spPr>
          <a:xfrm>
            <a:off x="2652388"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24"/>
          <p:cNvSpPr/>
          <p:nvPr/>
        </p:nvSpPr>
        <p:spPr>
          <a:xfrm>
            <a:off x="29488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24"/>
          <p:cNvSpPr/>
          <p:nvPr/>
        </p:nvSpPr>
        <p:spPr>
          <a:xfrm>
            <a:off x="31485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24"/>
          <p:cNvSpPr/>
          <p:nvPr/>
        </p:nvSpPr>
        <p:spPr>
          <a:xfrm>
            <a:off x="33483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24"/>
          <p:cNvSpPr/>
          <p:nvPr/>
        </p:nvSpPr>
        <p:spPr>
          <a:xfrm>
            <a:off x="35428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24"/>
          <p:cNvSpPr/>
          <p:nvPr/>
        </p:nvSpPr>
        <p:spPr>
          <a:xfrm>
            <a:off x="37426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24"/>
          <p:cNvSpPr/>
          <p:nvPr/>
        </p:nvSpPr>
        <p:spPr>
          <a:xfrm>
            <a:off x="3941438"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24"/>
          <p:cNvSpPr/>
          <p:nvPr/>
        </p:nvSpPr>
        <p:spPr>
          <a:xfrm>
            <a:off x="41402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4"/>
          <p:cNvSpPr/>
          <p:nvPr/>
        </p:nvSpPr>
        <p:spPr>
          <a:xfrm>
            <a:off x="4338938"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24"/>
          <p:cNvSpPr/>
          <p:nvPr/>
        </p:nvSpPr>
        <p:spPr>
          <a:xfrm>
            <a:off x="46404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24"/>
          <p:cNvSpPr/>
          <p:nvPr/>
        </p:nvSpPr>
        <p:spPr>
          <a:xfrm>
            <a:off x="48402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24"/>
          <p:cNvSpPr/>
          <p:nvPr/>
        </p:nvSpPr>
        <p:spPr>
          <a:xfrm>
            <a:off x="50399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24"/>
          <p:cNvSpPr/>
          <p:nvPr/>
        </p:nvSpPr>
        <p:spPr>
          <a:xfrm>
            <a:off x="52344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4"/>
          <p:cNvSpPr/>
          <p:nvPr/>
        </p:nvSpPr>
        <p:spPr>
          <a:xfrm>
            <a:off x="543430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4"/>
          <p:cNvSpPr/>
          <p:nvPr/>
        </p:nvSpPr>
        <p:spPr>
          <a:xfrm>
            <a:off x="5633063"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24"/>
          <p:cNvSpPr/>
          <p:nvPr/>
        </p:nvSpPr>
        <p:spPr>
          <a:xfrm>
            <a:off x="58318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24"/>
          <p:cNvSpPr/>
          <p:nvPr/>
        </p:nvSpPr>
        <p:spPr>
          <a:xfrm>
            <a:off x="6030563"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24"/>
          <p:cNvSpPr/>
          <p:nvPr/>
        </p:nvSpPr>
        <p:spPr>
          <a:xfrm>
            <a:off x="63199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24"/>
          <p:cNvSpPr/>
          <p:nvPr/>
        </p:nvSpPr>
        <p:spPr>
          <a:xfrm>
            <a:off x="65196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24"/>
          <p:cNvSpPr/>
          <p:nvPr/>
        </p:nvSpPr>
        <p:spPr>
          <a:xfrm>
            <a:off x="67193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24"/>
          <p:cNvSpPr/>
          <p:nvPr/>
        </p:nvSpPr>
        <p:spPr>
          <a:xfrm>
            <a:off x="691392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24"/>
          <p:cNvSpPr/>
          <p:nvPr/>
        </p:nvSpPr>
        <p:spPr>
          <a:xfrm>
            <a:off x="7113750"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24"/>
          <p:cNvSpPr/>
          <p:nvPr/>
        </p:nvSpPr>
        <p:spPr>
          <a:xfrm>
            <a:off x="7312513"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24"/>
          <p:cNvSpPr/>
          <p:nvPr/>
        </p:nvSpPr>
        <p:spPr>
          <a:xfrm>
            <a:off x="7511275"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 name="Google Shape;257;p24"/>
          <p:cNvSpPr/>
          <p:nvPr/>
        </p:nvSpPr>
        <p:spPr>
          <a:xfrm>
            <a:off x="7710013" y="3762675"/>
            <a:ext cx="153000" cy="140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24"/>
          <p:cNvSpPr/>
          <p:nvPr/>
        </p:nvSpPr>
        <p:spPr>
          <a:xfrm>
            <a:off x="5629925" y="3066625"/>
            <a:ext cx="153000" cy="140100"/>
          </a:xfrm>
          <a:prstGeom prst="rect">
            <a:avLst/>
          </a:prstGeom>
          <a:solidFill>
            <a:srgbClr val="FF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24"/>
          <p:cNvSpPr/>
          <p:nvPr/>
        </p:nvSpPr>
        <p:spPr>
          <a:xfrm>
            <a:off x="5830100" y="3066625"/>
            <a:ext cx="153000" cy="140100"/>
          </a:xfrm>
          <a:prstGeom prst="rect">
            <a:avLst/>
          </a:prstGeom>
          <a:solidFill>
            <a:srgbClr val="FF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24"/>
          <p:cNvSpPr/>
          <p:nvPr/>
        </p:nvSpPr>
        <p:spPr>
          <a:xfrm>
            <a:off x="6030275" y="3066625"/>
            <a:ext cx="153000" cy="140100"/>
          </a:xfrm>
          <a:prstGeom prst="rect">
            <a:avLst/>
          </a:prstGeom>
          <a:solidFill>
            <a:srgbClr val="FF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24"/>
          <p:cNvSpPr/>
          <p:nvPr/>
        </p:nvSpPr>
        <p:spPr>
          <a:xfrm>
            <a:off x="671875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24"/>
          <p:cNvSpPr/>
          <p:nvPr/>
        </p:nvSpPr>
        <p:spPr>
          <a:xfrm>
            <a:off x="692020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24"/>
          <p:cNvSpPr/>
          <p:nvPr/>
        </p:nvSpPr>
        <p:spPr>
          <a:xfrm>
            <a:off x="712165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4"/>
          <p:cNvSpPr/>
          <p:nvPr/>
        </p:nvSpPr>
        <p:spPr>
          <a:xfrm>
            <a:off x="731535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24"/>
          <p:cNvSpPr/>
          <p:nvPr/>
        </p:nvSpPr>
        <p:spPr>
          <a:xfrm>
            <a:off x="750905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24"/>
          <p:cNvSpPr/>
          <p:nvPr/>
        </p:nvSpPr>
        <p:spPr>
          <a:xfrm>
            <a:off x="7718250" y="3066625"/>
            <a:ext cx="153000" cy="1401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We don’t want data blocks to necessarily be continuous</a:t>
            </a:r>
            <a:endParaRPr>
              <a:latin typeface="SUSE SemiBold"/>
              <a:ea typeface="SUSE SemiBold"/>
              <a:cs typeface="SUSE SemiBold"/>
              <a:sym typeface="SUSE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25"/>
          <p:cNvPicPr preferRelativeResize="0"/>
          <p:nvPr/>
        </p:nvPicPr>
        <p:blipFill>
          <a:blip r:embed="rId3">
            <a:alphaModFix/>
          </a:blip>
          <a:stretch>
            <a:fillRect/>
          </a:stretch>
        </p:blipFill>
        <p:spPr>
          <a:xfrm>
            <a:off x="984838" y="2839500"/>
            <a:ext cx="7096125" cy="1419225"/>
          </a:xfrm>
          <a:prstGeom prst="rect">
            <a:avLst/>
          </a:prstGeom>
          <a:noFill/>
          <a:ln>
            <a:noFill/>
          </a:ln>
        </p:spPr>
      </p:pic>
      <p:sp>
        <p:nvSpPr>
          <p:cNvPr id="273" name="Google Shape;273;p25"/>
          <p:cNvSpPr/>
          <p:nvPr/>
        </p:nvSpPr>
        <p:spPr>
          <a:xfrm>
            <a:off x="394380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25"/>
          <p:cNvSpPr/>
          <p:nvPr/>
        </p:nvSpPr>
        <p:spPr>
          <a:xfrm>
            <a:off x="3943800" y="3755900"/>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25"/>
          <p:cNvSpPr/>
          <p:nvPr/>
        </p:nvSpPr>
        <p:spPr>
          <a:xfrm>
            <a:off x="4347350" y="30613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25"/>
          <p:cNvSpPr/>
          <p:nvPr/>
        </p:nvSpPr>
        <p:spPr>
          <a:xfrm>
            <a:off x="6325850" y="3755900"/>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25"/>
          <p:cNvSpPr/>
          <p:nvPr/>
        </p:nvSpPr>
        <p:spPr>
          <a:xfrm>
            <a:off x="6026850" y="3070200"/>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25"/>
          <p:cNvSpPr txBox="1"/>
          <p:nvPr/>
        </p:nvSpPr>
        <p:spPr>
          <a:xfrm>
            <a:off x="812975" y="234525"/>
            <a:ext cx="4424400" cy="18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latin typeface="JetBrains Mono"/>
                <a:ea typeface="JetBrains Mono"/>
                <a:cs typeface="JetBrains Mono"/>
                <a:sym typeface="JetBrains Mono"/>
              </a:rPr>
              <a:t>struct</a:t>
            </a:r>
            <a:r>
              <a:rPr lang="en" sz="1800">
                <a:solidFill>
                  <a:schemeClr val="dk2"/>
                </a:solidFill>
                <a:latin typeface="JetBrains Mono"/>
                <a:ea typeface="JetBrains Mono"/>
                <a:cs typeface="JetBrains Mono"/>
                <a:sym typeface="JetBrains Mono"/>
              </a:rPr>
              <a:t> inode {</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uint64</a:t>
            </a:r>
            <a:r>
              <a:rPr lang="en" sz="1800">
                <a:solidFill>
                  <a:schemeClr val="dk2"/>
                </a:solidFill>
                <a:latin typeface="JetBrains Mono"/>
                <a:ea typeface="JetBrains Mono"/>
                <a:cs typeface="JetBrains Mono"/>
                <a:sym typeface="JetBrains Mono"/>
              </a:rPr>
              <a:t> ctime, atime, mtime;</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short</a:t>
            </a:r>
            <a:r>
              <a:rPr lang="en" sz="1800">
                <a:solidFill>
                  <a:schemeClr val="dk2"/>
                </a:solidFill>
                <a:latin typeface="JetBrains Mono"/>
                <a:ea typeface="JetBrains Mono"/>
                <a:cs typeface="JetBrains Mono"/>
                <a:sym typeface="JetBrains Mono"/>
              </a:rPr>
              <a:t> permissions;</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b="1" lang="en" sz="1800">
                <a:solidFill>
                  <a:srgbClr val="0000FF"/>
                </a:solidFill>
                <a:latin typeface="JetBrains Mono"/>
                <a:ea typeface="JetBrains Mono"/>
                <a:cs typeface="JetBrains Mono"/>
                <a:sym typeface="JetBrains Mono"/>
              </a:rPr>
              <a:t>int</a:t>
            </a:r>
            <a:r>
              <a:rPr b="1" lang="en" sz="1800">
                <a:solidFill>
                  <a:schemeClr val="dk2"/>
                </a:solidFill>
                <a:latin typeface="JetBrains Mono"/>
                <a:ea typeface="JetBrains Mono"/>
                <a:cs typeface="JetBrains Mono"/>
                <a:sym typeface="JetBrains Mono"/>
              </a:rPr>
              <a:t> </a:t>
            </a:r>
            <a:r>
              <a:rPr b="1" lang="en" sz="1800">
                <a:solidFill>
                  <a:schemeClr val="dk2"/>
                </a:solidFill>
                <a:latin typeface="JetBrains Mono"/>
                <a:ea typeface="JetBrains Mono"/>
                <a:cs typeface="JetBrains Mono"/>
                <a:sym typeface="JetBrains Mono"/>
              </a:rPr>
              <a:t>datablocks[]</a:t>
            </a:r>
            <a:r>
              <a:rPr b="1" lang="en" sz="1800">
                <a:solidFill>
                  <a:schemeClr val="dk2"/>
                </a:solidFill>
                <a:latin typeface="JetBrains Mono"/>
                <a:ea typeface="JetBrains Mono"/>
                <a:cs typeface="JetBrains Mono"/>
                <a:sym typeface="JetBrains Mono"/>
              </a:rPr>
              <a:t>;</a:t>
            </a:r>
            <a:endParaRPr b="1"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p:txBody>
      </p:sp>
      <p:cxnSp>
        <p:nvCxnSpPr>
          <p:cNvPr id="279" name="Google Shape;279;p25"/>
          <p:cNvCxnSpPr>
            <a:endCxn id="273" idx="0"/>
          </p:cNvCxnSpPr>
          <p:nvPr/>
        </p:nvCxnSpPr>
        <p:spPr>
          <a:xfrm>
            <a:off x="3048600" y="1531975"/>
            <a:ext cx="971700" cy="1529400"/>
          </a:xfrm>
          <a:prstGeom prst="straightConnector1">
            <a:avLst/>
          </a:prstGeom>
          <a:noFill/>
          <a:ln cap="flat" cmpd="sng" w="28575">
            <a:solidFill>
              <a:schemeClr val="dk2"/>
            </a:solidFill>
            <a:prstDash val="solid"/>
            <a:round/>
            <a:headEnd len="med" w="med" type="none"/>
            <a:tailEnd len="med" w="med" type="triangle"/>
          </a:ln>
        </p:spPr>
      </p:cxnSp>
      <p:cxnSp>
        <p:nvCxnSpPr>
          <p:cNvPr id="280" name="Google Shape;280;p25"/>
          <p:cNvCxnSpPr>
            <a:endCxn id="277" idx="0"/>
          </p:cNvCxnSpPr>
          <p:nvPr/>
        </p:nvCxnSpPr>
        <p:spPr>
          <a:xfrm>
            <a:off x="3458250" y="1506600"/>
            <a:ext cx="2645100" cy="1563600"/>
          </a:xfrm>
          <a:prstGeom prst="straightConnector1">
            <a:avLst/>
          </a:prstGeom>
          <a:noFill/>
          <a:ln cap="flat" cmpd="sng" w="28575">
            <a:solidFill>
              <a:schemeClr val="dk2"/>
            </a:solidFill>
            <a:prstDash val="solid"/>
            <a:round/>
            <a:headEnd len="med" w="med" type="none"/>
            <a:tailEnd len="med" w="med" type="triangle"/>
          </a:ln>
        </p:spPr>
      </p:cxnSp>
      <p:cxnSp>
        <p:nvCxnSpPr>
          <p:cNvPr id="281" name="Google Shape;281;p25"/>
          <p:cNvCxnSpPr>
            <a:endCxn id="275" idx="0"/>
          </p:cNvCxnSpPr>
          <p:nvPr/>
        </p:nvCxnSpPr>
        <p:spPr>
          <a:xfrm>
            <a:off x="3249350" y="1514875"/>
            <a:ext cx="1174500" cy="1546500"/>
          </a:xfrm>
          <a:prstGeom prst="straightConnector1">
            <a:avLst/>
          </a:prstGeom>
          <a:noFill/>
          <a:ln cap="flat" cmpd="sng" w="28575">
            <a:solidFill>
              <a:schemeClr val="dk2"/>
            </a:solidFill>
            <a:prstDash val="solid"/>
            <a:round/>
            <a:headEnd len="med" w="med" type="none"/>
            <a:tailEnd len="med" w="med" type="triangle"/>
          </a:ln>
        </p:spPr>
      </p:cxnSp>
      <p:cxnSp>
        <p:nvCxnSpPr>
          <p:cNvPr id="282" name="Google Shape;282;p25"/>
          <p:cNvCxnSpPr>
            <a:endCxn id="274" idx="0"/>
          </p:cNvCxnSpPr>
          <p:nvPr/>
        </p:nvCxnSpPr>
        <p:spPr>
          <a:xfrm>
            <a:off x="2989200" y="1509500"/>
            <a:ext cx="1031100" cy="2246400"/>
          </a:xfrm>
          <a:prstGeom prst="straightConnector1">
            <a:avLst/>
          </a:prstGeom>
          <a:noFill/>
          <a:ln cap="flat" cmpd="sng" w="28575">
            <a:solidFill>
              <a:schemeClr val="dk2"/>
            </a:solidFill>
            <a:prstDash val="solid"/>
            <a:round/>
            <a:headEnd len="med" w="med" type="none"/>
            <a:tailEnd len="med" w="med" type="triangle"/>
          </a:ln>
        </p:spPr>
      </p:cxnSp>
      <p:cxnSp>
        <p:nvCxnSpPr>
          <p:cNvPr id="283" name="Google Shape;283;p25"/>
          <p:cNvCxnSpPr>
            <a:endCxn id="276" idx="0"/>
          </p:cNvCxnSpPr>
          <p:nvPr/>
        </p:nvCxnSpPr>
        <p:spPr>
          <a:xfrm>
            <a:off x="3384650" y="1527500"/>
            <a:ext cx="3017700" cy="22284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6"/>
          <p:cNvSpPr txBox="1"/>
          <p:nvPr/>
        </p:nvSpPr>
        <p:spPr>
          <a:xfrm>
            <a:off x="812975" y="234525"/>
            <a:ext cx="4424400" cy="20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latin typeface="JetBrains Mono"/>
                <a:ea typeface="JetBrains Mono"/>
                <a:cs typeface="JetBrains Mono"/>
                <a:sym typeface="JetBrains Mono"/>
              </a:rPr>
              <a:t>struct</a:t>
            </a:r>
            <a:r>
              <a:rPr lang="en" sz="1800">
                <a:solidFill>
                  <a:schemeClr val="dk2"/>
                </a:solidFill>
                <a:latin typeface="JetBrains Mono"/>
                <a:ea typeface="JetBrains Mono"/>
                <a:cs typeface="JetBrains Mono"/>
                <a:sym typeface="JetBrains Mono"/>
              </a:rPr>
              <a:t> inode {</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uint64</a:t>
            </a:r>
            <a:r>
              <a:rPr lang="en" sz="1800">
                <a:solidFill>
                  <a:schemeClr val="dk2"/>
                </a:solidFill>
                <a:latin typeface="JetBrains Mono"/>
                <a:ea typeface="JetBrains Mono"/>
                <a:cs typeface="JetBrains Mono"/>
                <a:sym typeface="JetBrains Mono"/>
              </a:rPr>
              <a:t> ctime, atime, mtime;</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short</a:t>
            </a:r>
            <a:r>
              <a:rPr lang="en" sz="1800">
                <a:solidFill>
                  <a:schemeClr val="dk2"/>
                </a:solidFill>
                <a:latin typeface="JetBrains Mono"/>
                <a:ea typeface="JetBrains Mono"/>
                <a:cs typeface="JetBrains Mono"/>
                <a:sym typeface="JetBrains Mono"/>
              </a:rPr>
              <a:t> permissions;</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b="1" lang="en" sz="1800">
                <a:solidFill>
                  <a:srgbClr val="0000FF"/>
                </a:solidFill>
                <a:latin typeface="JetBrains Mono"/>
                <a:ea typeface="JetBrains Mono"/>
                <a:cs typeface="JetBrains Mono"/>
                <a:sym typeface="JetBrains Mono"/>
              </a:rPr>
              <a:t>int</a:t>
            </a:r>
            <a:r>
              <a:rPr b="1" lang="en" sz="1800">
                <a:solidFill>
                  <a:schemeClr val="dk2"/>
                </a:solidFill>
                <a:latin typeface="JetBrains Mono"/>
                <a:ea typeface="JetBrains Mono"/>
                <a:cs typeface="JetBrains Mono"/>
                <a:sym typeface="JetBrains Mono"/>
              </a:rPr>
              <a:t> datablocks[N];</a:t>
            </a:r>
            <a:endParaRPr b="1" sz="1800">
              <a:solidFill>
                <a:schemeClr val="dk2"/>
              </a:solidFill>
              <a:latin typeface="JetBrains Mono"/>
              <a:ea typeface="JetBrains Mono"/>
              <a:cs typeface="JetBrains Mono"/>
              <a:sym typeface="JetBrains Mono"/>
            </a:endParaRPr>
          </a:p>
          <a:p>
            <a:pPr indent="457200" lvl="0" marL="0" rtl="0" algn="l">
              <a:spcBef>
                <a:spcPts val="0"/>
              </a:spcBef>
              <a:spcAft>
                <a:spcPts val="0"/>
              </a:spcAft>
              <a:buClr>
                <a:schemeClr val="dk1"/>
              </a:buClr>
              <a:buSzPts val="1100"/>
              <a:buFont typeface="Arial"/>
              <a:buNone/>
            </a:pPr>
            <a:r>
              <a:rPr b="1" lang="en" sz="1800">
                <a:solidFill>
                  <a:srgbClr val="0000FF"/>
                </a:solidFill>
                <a:latin typeface="JetBrains Mono"/>
                <a:ea typeface="JetBrains Mono"/>
                <a:cs typeface="JetBrains Mono"/>
                <a:sym typeface="JetBrains Mono"/>
              </a:rPr>
              <a:t>uint64</a:t>
            </a:r>
            <a:r>
              <a:rPr b="1" lang="en" sz="1800">
                <a:solidFill>
                  <a:schemeClr val="dk2"/>
                </a:solidFill>
                <a:latin typeface="JetBrains Mono"/>
                <a:ea typeface="JetBrains Mono"/>
                <a:cs typeface="JetBrains Mono"/>
                <a:sym typeface="JetBrains Mono"/>
              </a:rPr>
              <a:t> size;</a:t>
            </a:r>
            <a:endParaRPr b="1"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p:txBody>
      </p:sp>
      <p:cxnSp>
        <p:nvCxnSpPr>
          <p:cNvPr id="289" name="Google Shape;289;p26"/>
          <p:cNvCxnSpPr/>
          <p:nvPr/>
        </p:nvCxnSpPr>
        <p:spPr>
          <a:xfrm rot="10800000">
            <a:off x="3845825" y="1477525"/>
            <a:ext cx="2048100" cy="1461600"/>
          </a:xfrm>
          <a:prstGeom prst="straightConnector1">
            <a:avLst/>
          </a:prstGeom>
          <a:noFill/>
          <a:ln cap="flat" cmpd="sng" w="19050">
            <a:solidFill>
              <a:schemeClr val="dk2"/>
            </a:solidFill>
            <a:prstDash val="solid"/>
            <a:round/>
            <a:headEnd len="med" w="med" type="none"/>
            <a:tailEnd len="med" w="med" type="triangle"/>
          </a:ln>
        </p:spPr>
      </p:cxnSp>
      <p:sp>
        <p:nvSpPr>
          <p:cNvPr id="290" name="Google Shape;290;p26"/>
          <p:cNvSpPr txBox="1"/>
          <p:nvPr/>
        </p:nvSpPr>
        <p:spPr>
          <a:xfrm>
            <a:off x="4955900" y="2939125"/>
            <a:ext cx="31734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USE"/>
                <a:ea typeface="SUSE"/>
                <a:cs typeface="SUSE"/>
                <a:sym typeface="SUSE"/>
              </a:rPr>
              <a:t>Max file size = N * block size</a:t>
            </a:r>
            <a:endParaRPr sz="1800">
              <a:solidFill>
                <a:schemeClr val="dk2"/>
              </a:solidFill>
              <a:latin typeface="SUSE"/>
              <a:ea typeface="SUSE"/>
              <a:cs typeface="SUSE"/>
              <a:sym typeface="SUSE"/>
            </a:endParaRPr>
          </a:p>
        </p:txBody>
      </p:sp>
      <p:sp>
        <p:nvSpPr>
          <p:cNvPr id="291" name="Google Shape;291;p26"/>
          <p:cNvSpPr txBox="1"/>
          <p:nvPr/>
        </p:nvSpPr>
        <p:spPr>
          <a:xfrm>
            <a:off x="4858175" y="3474525"/>
            <a:ext cx="31734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USE"/>
                <a:ea typeface="SUSE"/>
                <a:cs typeface="SUSE"/>
                <a:sym typeface="SUSE"/>
              </a:rPr>
              <a:t>= 12 (in ext2/3) * 4kB = </a:t>
            </a:r>
            <a:r>
              <a:rPr b="1" lang="en" sz="1800">
                <a:solidFill>
                  <a:schemeClr val="dk2"/>
                </a:solidFill>
                <a:latin typeface="SUSE"/>
                <a:ea typeface="SUSE"/>
                <a:cs typeface="SUSE"/>
                <a:sym typeface="SUSE"/>
              </a:rPr>
              <a:t>48kB</a:t>
            </a:r>
            <a:endParaRPr b="1" sz="1800">
              <a:solidFill>
                <a:schemeClr val="dk2"/>
              </a:solidFill>
              <a:latin typeface="SUSE"/>
              <a:ea typeface="SUSE"/>
              <a:cs typeface="SUSE"/>
              <a:sym typeface="SUSE"/>
            </a:endParaRPr>
          </a:p>
        </p:txBody>
      </p:sp>
      <p:pic>
        <p:nvPicPr>
          <p:cNvPr id="292" name="Google Shape;292;p26"/>
          <p:cNvPicPr preferRelativeResize="0"/>
          <p:nvPr/>
        </p:nvPicPr>
        <p:blipFill rotWithShape="1">
          <a:blip r:embed="rId3">
            <a:alphaModFix/>
          </a:blip>
          <a:srcRect b="16289" l="0" r="0" t="6982"/>
          <a:stretch/>
        </p:blipFill>
        <p:spPr>
          <a:xfrm>
            <a:off x="7501350" y="3881025"/>
            <a:ext cx="1407548" cy="1199925"/>
          </a:xfrm>
          <a:prstGeom prst="rect">
            <a:avLst/>
          </a:prstGeom>
          <a:noFill/>
          <a:ln>
            <a:noFill/>
          </a:ln>
        </p:spPr>
      </p:pic>
      <p:sp>
        <p:nvSpPr>
          <p:cNvPr id="293" name="Google Shape;293;p26"/>
          <p:cNvSpPr txBox="1"/>
          <p:nvPr/>
        </p:nvSpPr>
        <p:spPr>
          <a:xfrm>
            <a:off x="226700" y="3767725"/>
            <a:ext cx="3705300" cy="115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USE"/>
                <a:ea typeface="SUSE"/>
                <a:cs typeface="SUSE"/>
                <a:sym typeface="SUSE"/>
              </a:rPr>
              <a:t>To support 1GB files, you’d have to have increase the number of data blocks at </a:t>
            </a:r>
            <a:r>
              <a:rPr lang="en" sz="1800">
                <a:solidFill>
                  <a:schemeClr val="dk2"/>
                </a:solidFill>
                <a:latin typeface="SUSE"/>
                <a:ea typeface="SUSE"/>
                <a:cs typeface="SUSE"/>
                <a:sym typeface="SUSE"/>
              </a:rPr>
              <a:t>least</a:t>
            </a:r>
            <a:r>
              <a:rPr lang="en" sz="1800">
                <a:solidFill>
                  <a:schemeClr val="dk2"/>
                </a:solidFill>
                <a:latin typeface="SUSE"/>
                <a:ea typeface="SUSE"/>
                <a:cs typeface="SUSE"/>
                <a:sym typeface="SUSE"/>
              </a:rPr>
              <a:t> 20 times. This will inflate the size of the inode.</a:t>
            </a:r>
            <a:endParaRPr sz="1800">
              <a:solidFill>
                <a:schemeClr val="dk2"/>
              </a:solidFill>
              <a:latin typeface="SUSE"/>
              <a:ea typeface="SUSE"/>
              <a:cs typeface="SUSE"/>
              <a:sym typeface="SUS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Indirect blocks</a:t>
            </a:r>
            <a:endParaRPr>
              <a:latin typeface="SUSE SemiBold"/>
              <a:ea typeface="SUSE SemiBold"/>
              <a:cs typeface="SUSE SemiBold"/>
              <a:sym typeface="SUSE SemiBold"/>
            </a:endParaRPr>
          </a:p>
        </p:txBody>
      </p:sp>
      <p:sp>
        <p:nvSpPr>
          <p:cNvPr id="299" name="Google Shape;299;p27"/>
          <p:cNvSpPr txBox="1"/>
          <p:nvPr>
            <p:ph idx="1" type="body"/>
          </p:nvPr>
        </p:nvSpPr>
        <p:spPr>
          <a:xfrm>
            <a:off x="311700" y="1152475"/>
            <a:ext cx="5214900" cy="130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The equivalent of multi-level page tables!</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The inode contains a pointer to a block which </a:t>
            </a:r>
            <a:r>
              <a:rPr lang="en">
                <a:latin typeface="SUSE"/>
                <a:ea typeface="SUSE"/>
                <a:cs typeface="SUSE"/>
                <a:sym typeface="SUSE"/>
              </a:rPr>
              <a:t>contains pointers to blocks.</a:t>
            </a:r>
            <a:endParaRPr>
              <a:latin typeface="SUSE"/>
              <a:ea typeface="SUSE"/>
              <a:cs typeface="SUSE"/>
              <a:sym typeface="SUSE"/>
            </a:endParaRPr>
          </a:p>
        </p:txBody>
      </p:sp>
      <p:sp>
        <p:nvSpPr>
          <p:cNvPr id="300" name="Google Shape;300;p27"/>
          <p:cNvSpPr txBox="1"/>
          <p:nvPr/>
        </p:nvSpPr>
        <p:spPr>
          <a:xfrm>
            <a:off x="5495275" y="445025"/>
            <a:ext cx="3142500" cy="20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latin typeface="JetBrains Mono"/>
                <a:ea typeface="JetBrains Mono"/>
                <a:cs typeface="JetBrains Mono"/>
                <a:sym typeface="JetBrains Mono"/>
              </a:rPr>
              <a:t>struct</a:t>
            </a:r>
            <a:r>
              <a:rPr lang="en" sz="1800">
                <a:solidFill>
                  <a:schemeClr val="dk2"/>
                </a:solidFill>
                <a:latin typeface="JetBrains Mono"/>
                <a:ea typeface="JetBrains Mono"/>
                <a:cs typeface="JetBrains Mono"/>
                <a:sym typeface="JetBrains Mono"/>
              </a:rPr>
              <a:t> inode {</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int</a:t>
            </a:r>
            <a:r>
              <a:rPr lang="en" sz="1800">
                <a:solidFill>
                  <a:schemeClr val="dk2"/>
                </a:solidFill>
                <a:latin typeface="JetBrains Mono"/>
                <a:ea typeface="JetBrains Mono"/>
                <a:cs typeface="JetBrains Mono"/>
                <a:sym typeface="JetBrains Mono"/>
              </a:rPr>
              <a:t> datablocks[N];</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uint64</a:t>
            </a:r>
            <a:r>
              <a:rPr lang="en" sz="1800">
                <a:solidFill>
                  <a:schemeClr val="dk2"/>
                </a:solidFill>
                <a:latin typeface="JetBrains Mono"/>
                <a:ea typeface="JetBrains Mono"/>
                <a:cs typeface="JetBrains Mono"/>
                <a:sym typeface="JetBrains Mono"/>
              </a:rPr>
              <a:t> size;</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b="1" lang="en" sz="1800">
                <a:solidFill>
                  <a:srgbClr val="0000FF"/>
                </a:solidFill>
                <a:latin typeface="JetBrains Mono"/>
                <a:ea typeface="JetBrains Mono"/>
                <a:cs typeface="JetBrains Mono"/>
                <a:sym typeface="JetBrains Mono"/>
              </a:rPr>
              <a:t>i</a:t>
            </a:r>
            <a:r>
              <a:rPr b="1" lang="en" sz="1800">
                <a:solidFill>
                  <a:srgbClr val="0000FF"/>
                </a:solidFill>
                <a:latin typeface="JetBrains Mono"/>
                <a:ea typeface="JetBrains Mono"/>
                <a:cs typeface="JetBrains Mono"/>
                <a:sym typeface="JetBrains Mono"/>
              </a:rPr>
              <a:t>nt</a:t>
            </a:r>
            <a:r>
              <a:rPr b="1" lang="en" sz="1800">
                <a:solidFill>
                  <a:schemeClr val="dk2"/>
                </a:solidFill>
                <a:latin typeface="JetBrains Mono"/>
                <a:ea typeface="JetBrains Mono"/>
                <a:cs typeface="JetBrains Mono"/>
                <a:sym typeface="JetBrains Mono"/>
              </a:rPr>
              <a:t> indirectblock;</a:t>
            </a:r>
            <a:endParaRPr b="1"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p:txBody>
      </p:sp>
      <p:pic>
        <p:nvPicPr>
          <p:cNvPr id="301" name="Google Shape;301;p27"/>
          <p:cNvPicPr preferRelativeResize="0"/>
          <p:nvPr/>
        </p:nvPicPr>
        <p:blipFill>
          <a:blip r:embed="rId3">
            <a:alphaModFix/>
          </a:blip>
          <a:stretch>
            <a:fillRect/>
          </a:stretch>
        </p:blipFill>
        <p:spPr>
          <a:xfrm>
            <a:off x="945738" y="3441400"/>
            <a:ext cx="7096125" cy="1419225"/>
          </a:xfrm>
          <a:prstGeom prst="rect">
            <a:avLst/>
          </a:prstGeom>
          <a:noFill/>
          <a:ln>
            <a:noFill/>
          </a:ln>
        </p:spPr>
      </p:pic>
      <p:sp>
        <p:nvSpPr>
          <p:cNvPr id="302" name="Google Shape;302;p27"/>
          <p:cNvSpPr/>
          <p:nvPr/>
        </p:nvSpPr>
        <p:spPr>
          <a:xfrm>
            <a:off x="3904700" y="36632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27"/>
          <p:cNvSpPr/>
          <p:nvPr/>
        </p:nvSpPr>
        <p:spPr>
          <a:xfrm>
            <a:off x="3904700" y="4357800"/>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27"/>
          <p:cNvSpPr/>
          <p:nvPr/>
        </p:nvSpPr>
        <p:spPr>
          <a:xfrm>
            <a:off x="4308250" y="3663275"/>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27"/>
          <p:cNvSpPr/>
          <p:nvPr/>
        </p:nvSpPr>
        <p:spPr>
          <a:xfrm>
            <a:off x="6286750" y="4357800"/>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27"/>
          <p:cNvSpPr/>
          <p:nvPr/>
        </p:nvSpPr>
        <p:spPr>
          <a:xfrm>
            <a:off x="5987750" y="3672100"/>
            <a:ext cx="153000" cy="1401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7" name="Google Shape;307;p27"/>
          <p:cNvSpPr/>
          <p:nvPr/>
        </p:nvSpPr>
        <p:spPr>
          <a:xfrm>
            <a:off x="2416500" y="3663275"/>
            <a:ext cx="153000" cy="140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8" name="Google Shape;308;p27"/>
          <p:cNvSpPr/>
          <p:nvPr/>
        </p:nvSpPr>
        <p:spPr>
          <a:xfrm>
            <a:off x="2565800" y="3512282"/>
            <a:ext cx="1375025" cy="209725"/>
          </a:xfrm>
          <a:custGeom>
            <a:rect b="b" l="l" r="r" t="t"/>
            <a:pathLst>
              <a:path extrusionOk="0" h="8389" w="55001">
                <a:moveTo>
                  <a:pt x="0" y="8389"/>
                </a:moveTo>
                <a:cubicBezTo>
                  <a:pt x="5308" y="6994"/>
                  <a:pt x="22680" y="365"/>
                  <a:pt x="31847" y="16"/>
                </a:cubicBezTo>
                <a:cubicBezTo>
                  <a:pt x="41014" y="-333"/>
                  <a:pt x="51142" y="5247"/>
                  <a:pt x="55001" y="6293"/>
                </a:cubicBezTo>
              </a:path>
            </a:pathLst>
          </a:custGeom>
          <a:noFill/>
          <a:ln cap="flat" cmpd="sng" w="9525">
            <a:solidFill>
              <a:schemeClr val="dk2"/>
            </a:solidFill>
            <a:prstDash val="solid"/>
            <a:round/>
            <a:headEnd len="med" w="med" type="none"/>
            <a:tailEnd len="med" w="med" type="stealth"/>
          </a:ln>
        </p:spPr>
      </p:sp>
      <p:sp>
        <p:nvSpPr>
          <p:cNvPr id="309" name="Google Shape;309;p27"/>
          <p:cNvSpPr/>
          <p:nvPr/>
        </p:nvSpPr>
        <p:spPr>
          <a:xfrm>
            <a:off x="2565800" y="3394800"/>
            <a:ext cx="1835950" cy="301125"/>
          </a:xfrm>
          <a:custGeom>
            <a:rect b="b" l="l" r="r" t="t"/>
            <a:pathLst>
              <a:path extrusionOk="0" h="12045" w="73438">
                <a:moveTo>
                  <a:pt x="0" y="12045"/>
                </a:moveTo>
                <a:cubicBezTo>
                  <a:pt x="5359" y="10040"/>
                  <a:pt x="21046" y="425"/>
                  <a:pt x="32154" y="15"/>
                </a:cubicBezTo>
                <a:cubicBezTo>
                  <a:pt x="43263" y="-395"/>
                  <a:pt x="60044" y="7726"/>
                  <a:pt x="66651" y="9583"/>
                </a:cubicBezTo>
                <a:cubicBezTo>
                  <a:pt x="73258" y="11440"/>
                  <a:pt x="70664" y="10810"/>
                  <a:pt x="71795" y="11155"/>
                </a:cubicBezTo>
                <a:cubicBezTo>
                  <a:pt x="72926" y="11500"/>
                  <a:pt x="73164" y="11572"/>
                  <a:pt x="73438" y="11655"/>
                </a:cubicBezTo>
              </a:path>
            </a:pathLst>
          </a:custGeom>
          <a:noFill/>
          <a:ln cap="flat" cmpd="sng" w="9525">
            <a:solidFill>
              <a:schemeClr val="dk2"/>
            </a:solidFill>
            <a:prstDash val="solid"/>
            <a:round/>
            <a:headEnd len="med" w="med" type="none"/>
            <a:tailEnd len="med" w="med" type="stealth"/>
          </a:ln>
        </p:spPr>
      </p:sp>
      <p:sp>
        <p:nvSpPr>
          <p:cNvPr id="310" name="Google Shape;310;p27"/>
          <p:cNvSpPr/>
          <p:nvPr/>
        </p:nvSpPr>
        <p:spPr>
          <a:xfrm>
            <a:off x="2560425" y="3145368"/>
            <a:ext cx="3430225" cy="526800"/>
          </a:xfrm>
          <a:custGeom>
            <a:rect b="b" l="l" r="r" t="t"/>
            <a:pathLst>
              <a:path extrusionOk="0" h="21072" w="137209">
                <a:moveTo>
                  <a:pt x="0" y="21072"/>
                </a:moveTo>
                <a:cubicBezTo>
                  <a:pt x="9392" y="17560"/>
                  <a:pt x="33485" y="21"/>
                  <a:pt x="56353" y="1"/>
                </a:cubicBezTo>
                <a:cubicBezTo>
                  <a:pt x="79221" y="-19"/>
                  <a:pt x="123733" y="17459"/>
                  <a:pt x="137209" y="20950"/>
                </a:cubicBezTo>
              </a:path>
            </a:pathLst>
          </a:custGeom>
          <a:noFill/>
          <a:ln cap="flat" cmpd="sng" w="9525">
            <a:solidFill>
              <a:schemeClr val="dk2"/>
            </a:solidFill>
            <a:prstDash val="solid"/>
            <a:round/>
            <a:headEnd len="med" w="med" type="none"/>
            <a:tailEnd len="med" w="med" type="stealth"/>
          </a:ln>
        </p:spPr>
      </p:sp>
      <p:sp>
        <p:nvSpPr>
          <p:cNvPr id="311" name="Google Shape;311;p27"/>
          <p:cNvSpPr/>
          <p:nvPr/>
        </p:nvSpPr>
        <p:spPr>
          <a:xfrm>
            <a:off x="2309453" y="1689350"/>
            <a:ext cx="5424375" cy="1974100"/>
          </a:xfrm>
          <a:custGeom>
            <a:rect b="b" l="l" r="r" t="t"/>
            <a:pathLst>
              <a:path extrusionOk="0" h="78964" w="216975">
                <a:moveTo>
                  <a:pt x="216975" y="0"/>
                </a:moveTo>
                <a:cubicBezTo>
                  <a:pt x="207790" y="7309"/>
                  <a:pt x="192494" y="35584"/>
                  <a:pt x="161862" y="43851"/>
                </a:cubicBezTo>
                <a:cubicBezTo>
                  <a:pt x="131230" y="52118"/>
                  <a:pt x="59910" y="46443"/>
                  <a:pt x="33184" y="49601"/>
                </a:cubicBezTo>
                <a:cubicBezTo>
                  <a:pt x="6459" y="52759"/>
                  <a:pt x="6193" y="57906"/>
                  <a:pt x="1509" y="62800"/>
                </a:cubicBezTo>
                <a:cubicBezTo>
                  <a:pt x="-3175" y="67694"/>
                  <a:pt x="4487" y="76270"/>
                  <a:pt x="5082" y="78964"/>
                </a:cubicBezTo>
              </a:path>
            </a:pathLst>
          </a:custGeom>
          <a:noFill/>
          <a:ln cap="flat" cmpd="sng" w="9525">
            <a:solidFill>
              <a:schemeClr val="dk2"/>
            </a:solidFill>
            <a:prstDash val="solid"/>
            <a:round/>
            <a:headEnd len="med" w="med" type="none"/>
            <a:tailEnd len="med" w="med" type="stealth"/>
          </a:ln>
        </p:spPr>
      </p:sp>
      <p:cxnSp>
        <p:nvCxnSpPr>
          <p:cNvPr id="312" name="Google Shape;312;p27"/>
          <p:cNvCxnSpPr>
            <a:stCxn id="307" idx="3"/>
          </p:cNvCxnSpPr>
          <p:nvPr/>
        </p:nvCxnSpPr>
        <p:spPr>
          <a:xfrm>
            <a:off x="2569500" y="3733325"/>
            <a:ext cx="3722100" cy="624600"/>
          </a:xfrm>
          <a:prstGeom prst="straightConnector1">
            <a:avLst/>
          </a:prstGeom>
          <a:noFill/>
          <a:ln cap="flat" cmpd="sng" w="9525">
            <a:solidFill>
              <a:schemeClr val="dk2"/>
            </a:solidFill>
            <a:prstDash val="solid"/>
            <a:round/>
            <a:headEnd len="med" w="med" type="none"/>
            <a:tailEnd len="med" w="med" type="triangle"/>
          </a:ln>
        </p:spPr>
      </p:cxnSp>
      <p:cxnSp>
        <p:nvCxnSpPr>
          <p:cNvPr id="313" name="Google Shape;313;p27"/>
          <p:cNvCxnSpPr/>
          <p:nvPr/>
        </p:nvCxnSpPr>
        <p:spPr>
          <a:xfrm>
            <a:off x="2567600" y="3775500"/>
            <a:ext cx="1342500" cy="585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Indirect blocks</a:t>
            </a:r>
            <a:endParaRPr>
              <a:latin typeface="SUSE SemiBold"/>
              <a:ea typeface="SUSE SemiBold"/>
              <a:cs typeface="SUSE SemiBold"/>
              <a:sym typeface="SUSE SemiBold"/>
            </a:endParaRPr>
          </a:p>
        </p:txBody>
      </p:sp>
      <p:sp>
        <p:nvSpPr>
          <p:cNvPr id="319" name="Google Shape;31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SUSE"/>
                <a:ea typeface="SUSE"/>
                <a:cs typeface="SUSE"/>
                <a:sym typeface="SUSE"/>
              </a:rPr>
              <a:t>You can go even further and make </a:t>
            </a:r>
            <a:r>
              <a:rPr b="1" lang="en">
                <a:latin typeface="SUSE"/>
                <a:ea typeface="SUSE"/>
                <a:cs typeface="SUSE"/>
                <a:sym typeface="SUSE"/>
              </a:rPr>
              <a:t>doubly indirect blocks</a:t>
            </a:r>
            <a:r>
              <a:rPr lang="en">
                <a:latin typeface="SUSE"/>
                <a:ea typeface="SUSE"/>
                <a:cs typeface="SUSE"/>
                <a:sym typeface="SUSE"/>
              </a:rPr>
              <a:t> (blocks containing pointers to blocks containing pointers to data blocks) or even </a:t>
            </a:r>
            <a:r>
              <a:rPr b="1" lang="en">
                <a:latin typeface="SUSE"/>
                <a:ea typeface="SUSE"/>
                <a:cs typeface="SUSE"/>
                <a:sym typeface="SUSE"/>
              </a:rPr>
              <a:t>triply indirect</a:t>
            </a:r>
            <a:r>
              <a:rPr lang="en">
                <a:latin typeface="SUSE"/>
                <a:ea typeface="SUSE"/>
                <a:cs typeface="SUSE"/>
                <a:sym typeface="SUSE"/>
              </a:rPr>
              <a:t> blocks.</a:t>
            </a:r>
            <a:endParaRPr>
              <a:latin typeface="SUSE"/>
              <a:ea typeface="SUSE"/>
              <a:cs typeface="SUSE"/>
              <a:sym typeface="SUS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9"/>
          <p:cNvSpPr txBox="1"/>
          <p:nvPr/>
        </p:nvSpPr>
        <p:spPr>
          <a:xfrm>
            <a:off x="941225" y="969875"/>
            <a:ext cx="3580500" cy="21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latin typeface="JetBrains Mono"/>
                <a:ea typeface="JetBrains Mono"/>
                <a:cs typeface="JetBrains Mono"/>
                <a:sym typeface="JetBrains Mono"/>
              </a:rPr>
              <a:t>struct</a:t>
            </a:r>
            <a:r>
              <a:rPr lang="en" sz="1800">
                <a:solidFill>
                  <a:schemeClr val="dk2"/>
                </a:solidFill>
                <a:latin typeface="JetBrains Mono"/>
                <a:ea typeface="JetBrains Mono"/>
                <a:cs typeface="JetBrains Mono"/>
                <a:sym typeface="JetBrains Mono"/>
              </a:rPr>
              <a:t> inode {</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int</a:t>
            </a:r>
            <a:r>
              <a:rPr lang="en" sz="1800">
                <a:solidFill>
                  <a:schemeClr val="dk2"/>
                </a:solidFill>
                <a:latin typeface="JetBrains Mono"/>
                <a:ea typeface="JetBrains Mono"/>
                <a:cs typeface="JetBrains Mono"/>
                <a:sym typeface="JetBrains Mono"/>
              </a:rPr>
              <a:t> datablocks[N];</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uint64</a:t>
            </a:r>
            <a:r>
              <a:rPr lang="en" sz="1800">
                <a:solidFill>
                  <a:schemeClr val="dk2"/>
                </a:solidFill>
                <a:latin typeface="JetBrains Mono"/>
                <a:ea typeface="JetBrains Mono"/>
                <a:cs typeface="JetBrains Mono"/>
                <a:sym typeface="JetBrains Mono"/>
              </a:rPr>
              <a:t> size;</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int</a:t>
            </a:r>
            <a:r>
              <a:rPr lang="en" sz="1800">
                <a:solidFill>
                  <a:schemeClr val="dk2"/>
                </a:solidFill>
                <a:latin typeface="JetBrains Mono"/>
                <a:ea typeface="JetBrains Mono"/>
                <a:cs typeface="JetBrains Mono"/>
                <a:sym typeface="JetBrains Mono"/>
              </a:rPr>
              <a:t> indirectblock;</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b="1" lang="en" sz="1800">
                <a:solidFill>
                  <a:srgbClr val="0000FF"/>
                </a:solidFill>
                <a:latin typeface="JetBrains Mono"/>
                <a:ea typeface="JetBrains Mono"/>
                <a:cs typeface="JetBrains Mono"/>
                <a:sym typeface="JetBrains Mono"/>
              </a:rPr>
              <a:t>c</a:t>
            </a:r>
            <a:r>
              <a:rPr b="1" lang="en" sz="1800">
                <a:solidFill>
                  <a:srgbClr val="0000FF"/>
                </a:solidFill>
                <a:latin typeface="JetBrains Mono"/>
                <a:ea typeface="JetBrains Mono"/>
                <a:cs typeface="JetBrains Mono"/>
                <a:sym typeface="JetBrains Mono"/>
              </a:rPr>
              <a:t>har</a:t>
            </a:r>
            <a:r>
              <a:rPr b="1" lang="en" sz="1800">
                <a:solidFill>
                  <a:schemeClr val="dk2"/>
                </a:solidFill>
                <a:latin typeface="JetBrains Mono"/>
                <a:ea typeface="JetBrains Mono"/>
                <a:cs typeface="JetBrains Mono"/>
                <a:sym typeface="JetBrains Mono"/>
              </a:rPr>
              <a:t> name[];  </a:t>
            </a:r>
            <a:r>
              <a:rPr b="1" lang="en" sz="1800">
                <a:solidFill>
                  <a:srgbClr val="FF0000"/>
                </a:solidFill>
                <a:latin typeface="JetBrains Mono"/>
                <a:ea typeface="JetBrains Mono"/>
                <a:cs typeface="JetBrains Mono"/>
                <a:sym typeface="JetBrains Mono"/>
              </a:rPr>
              <a:t>???</a:t>
            </a:r>
            <a:endParaRPr b="1" sz="1800">
              <a:solidFill>
                <a:srgbClr val="FF0000"/>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p:txBody>
      </p:sp>
      <p:sp>
        <p:nvSpPr>
          <p:cNvPr id="325" name="Google Shape;325;p29"/>
          <p:cNvSpPr txBox="1"/>
          <p:nvPr/>
        </p:nvSpPr>
        <p:spPr>
          <a:xfrm>
            <a:off x="5175800" y="2002500"/>
            <a:ext cx="3375300" cy="10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USE"/>
                <a:ea typeface="SUSE"/>
                <a:cs typeface="SUSE"/>
                <a:sym typeface="SUSE"/>
              </a:rPr>
              <a:t>Surely we’d need to store the name too, right?</a:t>
            </a:r>
            <a:endParaRPr sz="1800">
              <a:solidFill>
                <a:schemeClr val="dk2"/>
              </a:solidFill>
              <a:latin typeface="SUSE"/>
              <a:ea typeface="SUSE"/>
              <a:cs typeface="SUSE"/>
              <a:sym typeface="SUSE"/>
            </a:endParaRPr>
          </a:p>
          <a:p>
            <a:pPr indent="0" lvl="0" marL="0" rtl="0" algn="l">
              <a:spcBef>
                <a:spcPts val="0"/>
              </a:spcBef>
              <a:spcAft>
                <a:spcPts val="0"/>
              </a:spcAft>
              <a:buNone/>
            </a:pPr>
            <a:r>
              <a:rPr b="1" lang="en" sz="1800">
                <a:solidFill>
                  <a:schemeClr val="dk2"/>
                </a:solidFill>
                <a:latin typeface="SUSE"/>
                <a:ea typeface="SUSE"/>
                <a:cs typeface="SUSE"/>
                <a:sym typeface="SUSE"/>
              </a:rPr>
              <a:t>Not necessarily.</a:t>
            </a:r>
            <a:endParaRPr b="1" sz="1800">
              <a:solidFill>
                <a:schemeClr val="dk2"/>
              </a:solidFill>
              <a:latin typeface="SUSE"/>
              <a:ea typeface="SUSE"/>
              <a:cs typeface="SUSE"/>
              <a:sym typeface="SUS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Directories</a:t>
            </a:r>
            <a:endParaRPr>
              <a:latin typeface="SUSE SemiBold"/>
              <a:ea typeface="SUSE SemiBold"/>
              <a:cs typeface="SUSE SemiBold"/>
              <a:sym typeface="SUSE SemiBold"/>
            </a:endParaRPr>
          </a:p>
        </p:txBody>
      </p:sp>
      <p:sp>
        <p:nvSpPr>
          <p:cNvPr id="331" name="Google Shape;33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To store a directory on disk, we just need to store the inodes of its members!</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But since </a:t>
            </a:r>
            <a:r>
              <a:rPr lang="en">
                <a:latin typeface="SUSE"/>
                <a:ea typeface="SUSE"/>
                <a:cs typeface="SUSE"/>
                <a:sym typeface="SUSE"/>
              </a:rPr>
              <a:t>those inodes don’t contain the names of those files, we will store them along with the inode number.</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Where do we store this list of [File/directory name, inode number]?</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We would ideally like to avoid making a separate type of inode for directories. So we will store it in the data blocks itself.</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This will be more clear when we look at xv6’s code.</a:t>
            </a:r>
            <a:endParaRPr>
              <a:latin typeface="SUSE"/>
              <a:ea typeface="SUSE"/>
              <a:cs typeface="SUSE"/>
              <a:sym typeface="SUS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Directories</a:t>
            </a:r>
            <a:endParaRPr>
              <a:latin typeface="SUSE SemiBold"/>
              <a:ea typeface="SUSE SemiBold"/>
              <a:cs typeface="SUSE SemiBold"/>
              <a:sym typeface="SUSE SemiBold"/>
            </a:endParaRPr>
          </a:p>
        </p:txBody>
      </p:sp>
      <p:sp>
        <p:nvSpPr>
          <p:cNvPr id="337" name="Google Shape;337;p31"/>
          <p:cNvSpPr txBox="1"/>
          <p:nvPr>
            <p:ph idx="1" type="body"/>
          </p:nvPr>
        </p:nvSpPr>
        <p:spPr>
          <a:xfrm>
            <a:off x="311700" y="1152475"/>
            <a:ext cx="8520600" cy="163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However, we need to have a differentiating factor between a file’s inode and a directory’s </a:t>
            </a:r>
            <a:r>
              <a:rPr lang="en">
                <a:latin typeface="SUSE"/>
                <a:ea typeface="SUSE"/>
                <a:cs typeface="SUSE"/>
                <a:sym typeface="SUSE"/>
              </a:rPr>
              <a:t>inode, as their data blocks have different meanings. The kernel should be aware of this.</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Hence, we add a </a:t>
            </a:r>
            <a:r>
              <a:rPr b="1" lang="en">
                <a:latin typeface="SUSE"/>
                <a:ea typeface="SUSE"/>
                <a:cs typeface="SUSE"/>
                <a:sym typeface="SUSE"/>
              </a:rPr>
              <a:t>type field</a:t>
            </a:r>
            <a:r>
              <a:rPr lang="en">
                <a:latin typeface="SUSE"/>
                <a:ea typeface="SUSE"/>
                <a:cs typeface="SUSE"/>
                <a:sym typeface="SUSE"/>
              </a:rPr>
              <a:t>.</a:t>
            </a:r>
            <a:endParaRPr>
              <a:latin typeface="SUSE"/>
              <a:ea typeface="SUSE"/>
              <a:cs typeface="SUSE"/>
              <a:sym typeface="SUSE"/>
            </a:endParaRPr>
          </a:p>
        </p:txBody>
      </p:sp>
      <p:sp>
        <p:nvSpPr>
          <p:cNvPr id="338" name="Google Shape;338;p31"/>
          <p:cNvSpPr txBox="1"/>
          <p:nvPr/>
        </p:nvSpPr>
        <p:spPr>
          <a:xfrm>
            <a:off x="3992100" y="2673625"/>
            <a:ext cx="4840200" cy="21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latin typeface="JetBrains Mono"/>
                <a:ea typeface="JetBrains Mono"/>
                <a:cs typeface="JetBrains Mono"/>
                <a:sym typeface="JetBrains Mono"/>
              </a:rPr>
              <a:t>struct</a:t>
            </a:r>
            <a:r>
              <a:rPr lang="en" sz="1800">
                <a:solidFill>
                  <a:schemeClr val="dk2"/>
                </a:solidFill>
                <a:latin typeface="JetBrains Mono"/>
                <a:ea typeface="JetBrains Mono"/>
                <a:cs typeface="JetBrains Mono"/>
                <a:sym typeface="JetBrains Mono"/>
              </a:rPr>
              <a:t> inode {</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int</a:t>
            </a:r>
            <a:r>
              <a:rPr lang="en" sz="1800">
                <a:solidFill>
                  <a:schemeClr val="dk2"/>
                </a:solidFill>
                <a:latin typeface="JetBrains Mono"/>
                <a:ea typeface="JetBrains Mono"/>
                <a:cs typeface="JetBrains Mono"/>
                <a:sym typeface="JetBrains Mono"/>
              </a:rPr>
              <a:t> datablocks[N];</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uint64</a:t>
            </a:r>
            <a:r>
              <a:rPr lang="en" sz="1800">
                <a:solidFill>
                  <a:schemeClr val="dk2"/>
                </a:solidFill>
                <a:latin typeface="JetBrains Mono"/>
                <a:ea typeface="JetBrains Mono"/>
                <a:cs typeface="JetBrains Mono"/>
                <a:sym typeface="JetBrains Mono"/>
              </a:rPr>
              <a:t> size;</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rgbClr val="0000FF"/>
                </a:solidFill>
                <a:latin typeface="JetBrains Mono"/>
                <a:ea typeface="JetBrains Mono"/>
                <a:cs typeface="JetBrains Mono"/>
                <a:sym typeface="JetBrains Mono"/>
              </a:rPr>
              <a:t>int</a:t>
            </a:r>
            <a:r>
              <a:rPr lang="en" sz="1800">
                <a:solidFill>
                  <a:schemeClr val="dk2"/>
                </a:solidFill>
                <a:latin typeface="JetBrains Mono"/>
                <a:ea typeface="JetBrains Mono"/>
                <a:cs typeface="JetBrains Mono"/>
                <a:sym typeface="JetBrains Mono"/>
              </a:rPr>
              <a:t> indirectblock;</a:t>
            </a:r>
            <a:endParaRPr sz="1800">
              <a:solidFill>
                <a:schemeClr val="dk2"/>
              </a:solidFill>
              <a:latin typeface="JetBrains Mono"/>
              <a:ea typeface="JetBrains Mono"/>
              <a:cs typeface="JetBrains Mono"/>
              <a:sym typeface="JetBrains Mono"/>
            </a:endParaRPr>
          </a:p>
          <a:p>
            <a:pPr indent="457200" lvl="0" marL="0" rtl="0" algn="l">
              <a:spcBef>
                <a:spcPts val="0"/>
              </a:spcBef>
              <a:spcAft>
                <a:spcPts val="0"/>
              </a:spcAft>
              <a:buNone/>
            </a:pPr>
            <a:r>
              <a:rPr b="1" lang="en" sz="1800">
                <a:solidFill>
                  <a:srgbClr val="0000FF"/>
                </a:solidFill>
                <a:latin typeface="JetBrains Mono"/>
                <a:ea typeface="JetBrains Mono"/>
                <a:cs typeface="JetBrains Mono"/>
                <a:sym typeface="JetBrains Mono"/>
              </a:rPr>
              <a:t>short</a:t>
            </a:r>
            <a:r>
              <a:rPr b="1" lang="en" sz="1800">
                <a:solidFill>
                  <a:schemeClr val="dk2"/>
                </a:solidFill>
                <a:latin typeface="JetBrains Mono"/>
                <a:ea typeface="JetBrains Mono"/>
                <a:cs typeface="JetBrains Mono"/>
                <a:sym typeface="JetBrains Mono"/>
              </a:rPr>
              <a:t> type; </a:t>
            </a:r>
            <a:r>
              <a:rPr lang="en" sz="1800">
                <a:solidFill>
                  <a:schemeClr val="dk2"/>
                </a:solidFill>
                <a:latin typeface="JetBrains Mono"/>
                <a:ea typeface="JetBrains Mono"/>
                <a:cs typeface="JetBrains Mono"/>
                <a:sym typeface="JetBrains Mono"/>
              </a:rPr>
              <a:t>// T_DIR or T_FILE</a:t>
            </a:r>
            <a:endParaRPr sz="1800">
              <a:solidFill>
                <a:srgbClr val="FF0000"/>
              </a:solidFill>
              <a:latin typeface="JetBrains Mono"/>
              <a:ea typeface="JetBrains Mono"/>
              <a:cs typeface="JetBrains Mono"/>
              <a:sym typeface="JetBrains Mono"/>
            </a:endParaRPr>
          </a:p>
          <a:p>
            <a:pPr indent="45720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a:t>
            </a:r>
            <a:endParaRPr sz="1800">
              <a:solidFill>
                <a:schemeClr val="dk2"/>
              </a:solidFill>
              <a:latin typeface="JetBrains Mono"/>
              <a:ea typeface="JetBrains Mono"/>
              <a:cs typeface="JetBrains Mono"/>
              <a:sym typeface="JetBrains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Block allocation</a:t>
            </a:r>
            <a:endParaRPr>
              <a:latin typeface="SUSE SemiBold"/>
              <a:ea typeface="SUSE SemiBold"/>
              <a:cs typeface="SUSE SemiBold"/>
              <a:sym typeface="SUSE SemiBold"/>
            </a:endParaRPr>
          </a:p>
        </p:txBody>
      </p:sp>
      <p:sp>
        <p:nvSpPr>
          <p:cNvPr id="344" name="Google Shape;344;p32"/>
          <p:cNvSpPr txBox="1"/>
          <p:nvPr>
            <p:ph idx="1" type="body"/>
          </p:nvPr>
        </p:nvSpPr>
        <p:spPr>
          <a:xfrm>
            <a:off x="311700" y="1152475"/>
            <a:ext cx="8520600" cy="284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How do we know which blocks are free to allocate?</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Two possible solutions:</a:t>
            </a:r>
            <a:endParaRPr>
              <a:latin typeface="SUSE"/>
              <a:ea typeface="SUSE"/>
              <a:cs typeface="SUSE"/>
              <a:sym typeface="SUSE"/>
            </a:endParaRPr>
          </a:p>
          <a:p>
            <a:pPr indent="-342900" lvl="0" marL="457200" rtl="0" algn="l">
              <a:spcBef>
                <a:spcPts val="1200"/>
              </a:spcBef>
              <a:spcAft>
                <a:spcPts val="0"/>
              </a:spcAft>
              <a:buSzPts val="1800"/>
              <a:buFont typeface="SUSE"/>
              <a:buChar char="●"/>
            </a:pPr>
            <a:r>
              <a:rPr lang="en">
                <a:latin typeface="SUSE"/>
                <a:ea typeface="SUSE"/>
                <a:cs typeface="SUSE"/>
                <a:sym typeface="SUSE"/>
              </a:rPr>
              <a:t>Free list</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a:latin typeface="SUSE"/>
                <a:ea typeface="SUSE"/>
                <a:cs typeface="SUSE"/>
                <a:sym typeface="SUSE"/>
              </a:rPr>
              <a:t>Bitmap</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Free list is how xv6 maintains track of free physical RAM (recall </a:t>
            </a:r>
            <a:r>
              <a:rPr lang="en" sz="1600">
                <a:latin typeface="JetBrains Mono"/>
                <a:ea typeface="JetBrains Mono"/>
                <a:cs typeface="JetBrains Mono"/>
                <a:sym typeface="JetBrains Mono"/>
              </a:rPr>
              <a:t>struct run</a:t>
            </a:r>
            <a:r>
              <a:rPr lang="en">
                <a:latin typeface="SUSE"/>
                <a:ea typeface="SUSE"/>
                <a:cs typeface="SUSE"/>
                <a:sym typeface="SUSE"/>
              </a:rPr>
              <a:t> from the paging tutorial). Because of how the disk and RAM work, a bitmap is a better choice for the disk.</a:t>
            </a:r>
            <a:endParaRPr>
              <a:latin typeface="SUSE"/>
              <a:ea typeface="SUSE"/>
              <a:cs typeface="SUSE"/>
              <a:sym typeface="SUS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Bitmap block</a:t>
            </a:r>
            <a:endParaRPr>
              <a:latin typeface="SUSE SemiBold"/>
              <a:ea typeface="SUSE SemiBold"/>
              <a:cs typeface="SUSE SemiBold"/>
              <a:sym typeface="SUSE SemiBold"/>
            </a:endParaRPr>
          </a:p>
        </p:txBody>
      </p:sp>
      <p:sp>
        <p:nvSpPr>
          <p:cNvPr id="350" name="Google Shape;35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If the nth block on disk is free, we set the n</a:t>
            </a:r>
            <a:r>
              <a:rPr baseline="30000" lang="en">
                <a:latin typeface="SUSE"/>
                <a:ea typeface="SUSE"/>
                <a:cs typeface="SUSE"/>
                <a:sym typeface="SUSE"/>
              </a:rPr>
              <a:t>th</a:t>
            </a:r>
            <a:r>
              <a:rPr lang="en">
                <a:latin typeface="SUSE"/>
                <a:ea typeface="SUSE"/>
                <a:cs typeface="SUSE"/>
                <a:sym typeface="SUSE"/>
              </a:rPr>
              <a:t> bit of </a:t>
            </a:r>
            <a:r>
              <a:rPr lang="en">
                <a:latin typeface="SUSE"/>
                <a:ea typeface="SUSE"/>
                <a:cs typeface="SUSE"/>
                <a:sym typeface="SUSE"/>
              </a:rPr>
              <a:t>the</a:t>
            </a:r>
            <a:r>
              <a:rPr lang="en">
                <a:latin typeface="SUSE"/>
                <a:ea typeface="SUSE"/>
                <a:cs typeface="SUSE"/>
                <a:sym typeface="SUSE"/>
              </a:rPr>
              <a:t> bitmap block to 1. Else it’s 0.</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If n is </a:t>
            </a:r>
            <a:r>
              <a:rPr lang="en">
                <a:latin typeface="SUSE"/>
                <a:ea typeface="SUSE"/>
                <a:cs typeface="SUSE"/>
                <a:sym typeface="SUSE"/>
              </a:rPr>
              <a:t>more</a:t>
            </a:r>
            <a:r>
              <a:rPr lang="en">
                <a:latin typeface="SUSE"/>
                <a:ea typeface="SUSE"/>
                <a:cs typeface="SUSE"/>
                <a:sym typeface="SUSE"/>
              </a:rPr>
              <a:t> than the size of the block (BSIZE), we move to the next bitmap block and check the (n % BSIZE)</a:t>
            </a:r>
            <a:r>
              <a:rPr baseline="30000" lang="en">
                <a:latin typeface="SUSE"/>
                <a:ea typeface="SUSE"/>
                <a:cs typeface="SUSE"/>
                <a:sym typeface="SUSE"/>
              </a:rPr>
              <a:t>th</a:t>
            </a:r>
            <a:r>
              <a:rPr lang="en">
                <a:latin typeface="SUSE"/>
                <a:ea typeface="SUSE"/>
                <a:cs typeface="SUSE"/>
                <a:sym typeface="SUSE"/>
              </a:rPr>
              <a:t> bit.</a:t>
            </a:r>
            <a:endParaRPr>
              <a:latin typeface="SUSE"/>
              <a:ea typeface="SUSE"/>
              <a:cs typeface="SUSE"/>
              <a:sym typeface="SUS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Bringing it all together</a:t>
            </a:r>
            <a:endParaRPr>
              <a:latin typeface="SUSE SemiBold"/>
              <a:ea typeface="SUSE SemiBold"/>
              <a:cs typeface="SUSE SemiBold"/>
              <a:sym typeface="SUSE SemiBold"/>
            </a:endParaRPr>
          </a:p>
        </p:txBody>
      </p:sp>
      <p:sp>
        <p:nvSpPr>
          <p:cNvPr id="356" name="Google Shape;356;p34"/>
          <p:cNvSpPr txBox="1"/>
          <p:nvPr>
            <p:ph idx="1" type="body"/>
          </p:nvPr>
        </p:nvSpPr>
        <p:spPr>
          <a:xfrm>
            <a:off x="311700" y="1152475"/>
            <a:ext cx="8520600" cy="380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To build a filesystem, we have seen that we need 3 types of blocks: </a:t>
            </a:r>
            <a:r>
              <a:rPr b="1" lang="en">
                <a:latin typeface="SUSE"/>
                <a:ea typeface="SUSE"/>
                <a:cs typeface="SUSE"/>
                <a:sym typeface="SUSE"/>
              </a:rPr>
              <a:t>inode, data, </a:t>
            </a:r>
            <a:r>
              <a:rPr lang="en">
                <a:latin typeface="SUSE"/>
                <a:ea typeface="SUSE"/>
                <a:cs typeface="SUSE"/>
                <a:sym typeface="SUSE"/>
              </a:rPr>
              <a:t>and</a:t>
            </a:r>
            <a:r>
              <a:rPr b="1" lang="en">
                <a:latin typeface="SUSE"/>
                <a:ea typeface="SUSE"/>
                <a:cs typeface="SUSE"/>
                <a:sym typeface="SUSE"/>
              </a:rPr>
              <a:t> bitmap</a:t>
            </a:r>
            <a:r>
              <a:rPr lang="en">
                <a:latin typeface="SUSE"/>
                <a:ea typeface="SUSE"/>
                <a:cs typeface="SUSE"/>
                <a:sym typeface="SUSE"/>
              </a:rPr>
              <a:t>.</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It is up to us to decide how many of each type we want. Under the obvious constraint that there are enough bitmap blocks to describe all inode and data blocks on the disk.</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These numbers depend on how much the actual capacity of the disk is.</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Which means that when the kernel connects to this disk, it needs some way of knowing how the disk is partitioned into inode, bitmap and data blocks.</a:t>
            </a:r>
            <a:endParaRPr>
              <a:latin typeface="SUSE"/>
              <a:ea typeface="SUSE"/>
              <a:cs typeface="SUSE"/>
              <a:sym typeface="SUS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Superblock</a:t>
            </a:r>
            <a:endParaRPr>
              <a:latin typeface="SUSE SemiBold"/>
              <a:ea typeface="SUSE SemiBold"/>
              <a:cs typeface="SUSE SemiBold"/>
              <a:sym typeface="SUSE SemiBold"/>
            </a:endParaRPr>
          </a:p>
        </p:txBody>
      </p:sp>
      <p:sp>
        <p:nvSpPr>
          <p:cNvPr id="362" name="Google Shape;362;p35"/>
          <p:cNvSpPr txBox="1"/>
          <p:nvPr>
            <p:ph idx="1" type="body"/>
          </p:nvPr>
        </p:nvSpPr>
        <p:spPr>
          <a:xfrm>
            <a:off x="311700" y="1152475"/>
            <a:ext cx="8520600" cy="2206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We will store this </a:t>
            </a:r>
            <a:r>
              <a:rPr lang="en">
                <a:latin typeface="SUSE"/>
                <a:ea typeface="SUSE"/>
                <a:cs typeface="SUSE"/>
                <a:sym typeface="SUSE"/>
              </a:rPr>
              <a:t>metadata</a:t>
            </a:r>
            <a:r>
              <a:rPr lang="en">
                <a:latin typeface="SUSE"/>
                <a:ea typeface="SUSE"/>
                <a:cs typeface="SUSE"/>
                <a:sym typeface="SUSE"/>
              </a:rPr>
              <a:t> about the filesystem in the starting* block of the disk, called the </a:t>
            </a:r>
            <a:r>
              <a:rPr b="1" lang="en">
                <a:latin typeface="SUSE"/>
                <a:ea typeface="SUSE"/>
                <a:cs typeface="SUSE"/>
                <a:sym typeface="SUSE"/>
              </a:rPr>
              <a:t>superblock</a:t>
            </a:r>
            <a:r>
              <a:rPr lang="en">
                <a:latin typeface="SUSE"/>
                <a:ea typeface="SUSE"/>
                <a:cs typeface="SUSE"/>
                <a:sym typeface="SUSE"/>
              </a:rPr>
              <a:t>.</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You will get a better idea of the superblock once we look at xv6’s implementation.</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The superblock also likely includes a magic number, indicating the type of filesystem.</a:t>
            </a:r>
            <a:endParaRPr>
              <a:latin typeface="SUSE"/>
              <a:ea typeface="SUSE"/>
              <a:cs typeface="SUSE"/>
              <a:sym typeface="SUSE"/>
            </a:endParaRPr>
          </a:p>
        </p:txBody>
      </p:sp>
      <p:sp>
        <p:nvSpPr>
          <p:cNvPr id="363" name="Google Shape;363;p35"/>
          <p:cNvSpPr txBox="1"/>
          <p:nvPr/>
        </p:nvSpPr>
        <p:spPr>
          <a:xfrm>
            <a:off x="411800" y="4150325"/>
            <a:ext cx="8452800" cy="6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USE"/>
                <a:ea typeface="SUSE"/>
                <a:cs typeface="SUSE"/>
                <a:sym typeface="SUSE"/>
              </a:rPr>
              <a:t>*</a:t>
            </a:r>
            <a:r>
              <a:rPr lang="en" sz="1800">
                <a:solidFill>
                  <a:schemeClr val="dk2"/>
                </a:solidFill>
              </a:rPr>
              <a:t>  </a:t>
            </a:r>
            <a:r>
              <a:rPr lang="en" sz="1700">
                <a:solidFill>
                  <a:schemeClr val="dk2"/>
                </a:solidFill>
                <a:latin typeface="SUSE Light"/>
                <a:ea typeface="SUSE Light"/>
                <a:cs typeface="SUSE Light"/>
                <a:sym typeface="SUSE Light"/>
              </a:rPr>
              <a:t>this is a simplification. The superblock need not be the starting block, but must have a fixed location regardless of disk.</a:t>
            </a:r>
            <a:endParaRPr sz="1700">
              <a:solidFill>
                <a:schemeClr val="dk2"/>
              </a:solidFill>
              <a:latin typeface="SUSE Light"/>
              <a:ea typeface="SUSE Light"/>
              <a:cs typeface="SUSE Light"/>
              <a:sym typeface="SUSE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Final filesystem</a:t>
            </a:r>
            <a:endParaRPr>
              <a:latin typeface="SUSE SemiBold"/>
              <a:ea typeface="SUSE SemiBold"/>
              <a:cs typeface="SUSE SemiBold"/>
              <a:sym typeface="SUSE SemiBold"/>
            </a:endParaRPr>
          </a:p>
        </p:txBody>
      </p:sp>
      <p:pic>
        <p:nvPicPr>
          <p:cNvPr id="369" name="Google Shape;369;p36"/>
          <p:cNvPicPr preferRelativeResize="0"/>
          <p:nvPr/>
        </p:nvPicPr>
        <p:blipFill>
          <a:blip r:embed="rId3">
            <a:alphaModFix/>
          </a:blip>
          <a:stretch>
            <a:fillRect/>
          </a:stretch>
        </p:blipFill>
        <p:spPr>
          <a:xfrm>
            <a:off x="895350" y="2187525"/>
            <a:ext cx="7353300" cy="1838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SUSE SemiBold"/>
                <a:ea typeface="SUSE SemiBold"/>
                <a:cs typeface="SUSE SemiBold"/>
                <a:sym typeface="SUSE SemiBold"/>
              </a:rPr>
              <a:t>Links</a:t>
            </a:r>
            <a:endParaRPr>
              <a:latin typeface="SUSE SemiBold"/>
              <a:ea typeface="SUSE SemiBold"/>
              <a:cs typeface="SUSE SemiBold"/>
              <a:sym typeface="SUSE SemiBold"/>
            </a:endParaRPr>
          </a:p>
        </p:txBody>
      </p:sp>
      <p:sp>
        <p:nvSpPr>
          <p:cNvPr id="375" name="Google Shape;375;p37"/>
          <p:cNvSpPr txBox="1"/>
          <p:nvPr>
            <p:ph idx="1" type="subTitle"/>
          </p:nvPr>
        </p:nvSpPr>
        <p:spPr>
          <a:xfrm>
            <a:off x="311700" y="2834125"/>
            <a:ext cx="8520600" cy="4332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lang="en" sz="1680">
                <a:latin typeface="SUSE"/>
                <a:ea typeface="SUSE"/>
                <a:cs typeface="SUSE"/>
                <a:sym typeface="SUSE"/>
              </a:rPr>
              <a:t>Now that we have a functional filesystem, let’s see what other cool stuff we can do with it!</a:t>
            </a:r>
            <a:endParaRPr sz="1680">
              <a:latin typeface="SUSE"/>
              <a:ea typeface="SUSE"/>
              <a:cs typeface="SUSE"/>
              <a:sym typeface="SUS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Hard links</a:t>
            </a:r>
            <a:endParaRPr>
              <a:latin typeface="SUSE SemiBold"/>
              <a:ea typeface="SUSE SemiBold"/>
              <a:cs typeface="SUSE SemiBold"/>
              <a:sym typeface="SUSE SemiBold"/>
            </a:endParaRPr>
          </a:p>
        </p:txBody>
      </p:sp>
      <p:sp>
        <p:nvSpPr>
          <p:cNvPr id="381" name="Google Shape;381;p38"/>
          <p:cNvSpPr txBox="1"/>
          <p:nvPr>
            <p:ph idx="1" type="body"/>
          </p:nvPr>
        </p:nvSpPr>
        <p:spPr>
          <a:xfrm>
            <a:off x="311700" y="10177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SUSE"/>
                <a:ea typeface="SUSE"/>
                <a:cs typeface="SUSE"/>
                <a:sym typeface="SUSE"/>
              </a:rPr>
              <a:t>Consider the inode and data for the following directories:</a:t>
            </a:r>
            <a:endParaRPr>
              <a:latin typeface="SUSE"/>
              <a:ea typeface="SUSE"/>
              <a:cs typeface="SUSE"/>
              <a:sym typeface="SUSE"/>
            </a:endParaRPr>
          </a:p>
        </p:txBody>
      </p:sp>
      <p:sp>
        <p:nvSpPr>
          <p:cNvPr id="382" name="Google Shape;382;p38"/>
          <p:cNvSpPr txBox="1"/>
          <p:nvPr/>
        </p:nvSpPr>
        <p:spPr>
          <a:xfrm>
            <a:off x="667145" y="2629100"/>
            <a:ext cx="19827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/home/crowtum</a:t>
            </a:r>
            <a:endParaRPr sz="1800">
              <a:solidFill>
                <a:schemeClr val="dk2"/>
              </a:solidFill>
              <a:latin typeface="JetBrains Mono"/>
              <a:ea typeface="JetBrains Mono"/>
              <a:cs typeface="JetBrains Mono"/>
              <a:sym typeface="JetBrains Mono"/>
            </a:endParaRPr>
          </a:p>
        </p:txBody>
      </p:sp>
      <p:sp>
        <p:nvSpPr>
          <p:cNvPr id="383" name="Google Shape;383;p38"/>
          <p:cNvSpPr txBox="1"/>
          <p:nvPr/>
        </p:nvSpPr>
        <p:spPr>
          <a:xfrm>
            <a:off x="5352904" y="2629100"/>
            <a:ext cx="29349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/home/ristiavdaatnso</a:t>
            </a:r>
            <a:endParaRPr sz="1800">
              <a:solidFill>
                <a:schemeClr val="dk2"/>
              </a:solidFill>
              <a:latin typeface="JetBrains Mono"/>
              <a:ea typeface="JetBrains Mono"/>
              <a:cs typeface="JetBrains Mono"/>
              <a:sym typeface="JetBrains Mono"/>
            </a:endParaRPr>
          </a:p>
        </p:txBody>
      </p:sp>
      <p:sp>
        <p:nvSpPr>
          <p:cNvPr id="384" name="Google Shape;384;p38"/>
          <p:cNvSpPr txBox="1"/>
          <p:nvPr/>
        </p:nvSpPr>
        <p:spPr>
          <a:xfrm>
            <a:off x="977231" y="3092900"/>
            <a:ext cx="20679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90000"/>
                </a:solidFill>
                <a:latin typeface="JetBrains Mono"/>
                <a:ea typeface="JetBrains Mono"/>
                <a:cs typeface="JetBrains Mono"/>
                <a:sym typeface="JetBrains Mono"/>
              </a:rPr>
              <a:t>a.txt</a:t>
            </a:r>
            <a:r>
              <a:rPr lang="en" sz="1800">
                <a:solidFill>
                  <a:schemeClr val="dk2"/>
                </a:solidFill>
                <a:latin typeface="JetBrains Mono"/>
                <a:ea typeface="JetBrains Mono"/>
                <a:cs typeface="JetBrains Mono"/>
                <a:sym typeface="JetBrains Mono"/>
              </a:rPr>
              <a:t>      </a:t>
            </a:r>
            <a:r>
              <a:rPr lang="en" sz="1800">
                <a:solidFill>
                  <a:schemeClr val="accent1"/>
                </a:solidFill>
                <a:latin typeface="JetBrains Mono"/>
                <a:ea typeface="JetBrains Mono"/>
                <a:cs typeface="JetBrains Mono"/>
                <a:sym typeface="JetBrains Mono"/>
              </a:rPr>
              <a:t>25</a:t>
            </a:r>
            <a:endParaRPr sz="1800">
              <a:solidFill>
                <a:schemeClr val="accent1"/>
              </a:solidFill>
              <a:latin typeface="JetBrains Mono"/>
              <a:ea typeface="JetBrains Mono"/>
              <a:cs typeface="JetBrains Mono"/>
              <a:sym typeface="JetBrains Mono"/>
            </a:endParaRPr>
          </a:p>
        </p:txBody>
      </p:sp>
      <p:sp>
        <p:nvSpPr>
          <p:cNvPr id="385" name="Google Shape;385;p38"/>
          <p:cNvSpPr txBox="1"/>
          <p:nvPr/>
        </p:nvSpPr>
        <p:spPr>
          <a:xfrm>
            <a:off x="977225" y="3556700"/>
            <a:ext cx="20679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80000"/>
                </a:solidFill>
                <a:latin typeface="JetBrains Mono"/>
                <a:ea typeface="JetBrains Mono"/>
                <a:cs typeface="JetBrains Mono"/>
                <a:sym typeface="JetBrains Mono"/>
              </a:rPr>
              <a:t>b</a:t>
            </a:r>
            <a:r>
              <a:rPr lang="en" sz="1800">
                <a:solidFill>
                  <a:srgbClr val="980000"/>
                </a:solidFill>
                <a:latin typeface="JetBrains Mono"/>
                <a:ea typeface="JetBrains Mono"/>
                <a:cs typeface="JetBrains Mono"/>
                <a:sym typeface="JetBrains Mono"/>
              </a:rPr>
              <a:t>.txt</a:t>
            </a:r>
            <a:r>
              <a:rPr lang="en" sz="1800">
                <a:solidFill>
                  <a:schemeClr val="dk2"/>
                </a:solidFill>
                <a:latin typeface="JetBrains Mono"/>
                <a:ea typeface="JetBrains Mono"/>
                <a:cs typeface="JetBrains Mono"/>
                <a:sym typeface="JetBrains Mono"/>
              </a:rPr>
              <a:t>      </a:t>
            </a:r>
            <a:r>
              <a:rPr lang="en" sz="1800">
                <a:solidFill>
                  <a:schemeClr val="accent1"/>
                </a:solidFill>
                <a:latin typeface="JetBrains Mono"/>
                <a:ea typeface="JetBrains Mono"/>
                <a:cs typeface="JetBrains Mono"/>
                <a:sym typeface="JetBrains Mono"/>
              </a:rPr>
              <a:t>87</a:t>
            </a:r>
            <a:endParaRPr sz="1800">
              <a:solidFill>
                <a:schemeClr val="accent1"/>
              </a:solidFill>
              <a:latin typeface="JetBrains Mono"/>
              <a:ea typeface="JetBrains Mono"/>
              <a:cs typeface="JetBrains Mono"/>
              <a:sym typeface="JetBrains Mono"/>
            </a:endParaRPr>
          </a:p>
        </p:txBody>
      </p:sp>
      <p:sp>
        <p:nvSpPr>
          <p:cNvPr id="386" name="Google Shape;386;p38"/>
          <p:cNvSpPr txBox="1"/>
          <p:nvPr/>
        </p:nvSpPr>
        <p:spPr>
          <a:xfrm>
            <a:off x="5786397" y="3092904"/>
            <a:ext cx="20679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80000"/>
                </a:solidFill>
                <a:latin typeface="JetBrains Mono"/>
                <a:ea typeface="JetBrains Mono"/>
                <a:cs typeface="JetBrains Mono"/>
                <a:sym typeface="JetBrains Mono"/>
              </a:rPr>
              <a:t>a.txt</a:t>
            </a:r>
            <a:r>
              <a:rPr lang="en" sz="1800">
                <a:solidFill>
                  <a:schemeClr val="dk2"/>
                </a:solidFill>
                <a:latin typeface="JetBrains Mono"/>
                <a:ea typeface="JetBrains Mono"/>
                <a:cs typeface="JetBrains Mono"/>
                <a:sym typeface="JetBrains Mono"/>
              </a:rPr>
              <a:t>      </a:t>
            </a:r>
            <a:r>
              <a:rPr lang="en" sz="1800">
                <a:solidFill>
                  <a:schemeClr val="accent1"/>
                </a:solidFill>
                <a:latin typeface="JetBrains Mono"/>
                <a:ea typeface="JetBrains Mono"/>
                <a:cs typeface="JetBrains Mono"/>
                <a:sym typeface="JetBrains Mono"/>
              </a:rPr>
              <a:t>87</a:t>
            </a:r>
            <a:endParaRPr sz="1800">
              <a:solidFill>
                <a:schemeClr val="accent1"/>
              </a:solidFill>
              <a:latin typeface="JetBrains Mono"/>
              <a:ea typeface="JetBrains Mono"/>
              <a:cs typeface="JetBrains Mono"/>
              <a:sym typeface="JetBrains Mono"/>
            </a:endParaRPr>
          </a:p>
        </p:txBody>
      </p:sp>
      <p:sp>
        <p:nvSpPr>
          <p:cNvPr id="387" name="Google Shape;387;p38"/>
          <p:cNvSpPr txBox="1"/>
          <p:nvPr/>
        </p:nvSpPr>
        <p:spPr>
          <a:xfrm>
            <a:off x="5786398" y="3556704"/>
            <a:ext cx="20679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80000"/>
                </a:solidFill>
                <a:latin typeface="JetBrains Mono"/>
                <a:ea typeface="JetBrains Mono"/>
                <a:cs typeface="JetBrains Mono"/>
                <a:sym typeface="JetBrains Mono"/>
              </a:rPr>
              <a:t>b</a:t>
            </a:r>
            <a:r>
              <a:rPr lang="en" sz="1800">
                <a:solidFill>
                  <a:srgbClr val="980000"/>
                </a:solidFill>
                <a:latin typeface="JetBrains Mono"/>
                <a:ea typeface="JetBrains Mono"/>
                <a:cs typeface="JetBrains Mono"/>
                <a:sym typeface="JetBrains Mono"/>
              </a:rPr>
              <a:t>.txt</a:t>
            </a:r>
            <a:r>
              <a:rPr lang="en" sz="1800">
                <a:solidFill>
                  <a:schemeClr val="dk2"/>
                </a:solidFill>
                <a:latin typeface="JetBrains Mono"/>
                <a:ea typeface="JetBrains Mono"/>
                <a:cs typeface="JetBrains Mono"/>
                <a:sym typeface="JetBrains Mono"/>
              </a:rPr>
              <a:t>     </a:t>
            </a:r>
            <a:r>
              <a:rPr lang="en" sz="1800">
                <a:solidFill>
                  <a:schemeClr val="accent1"/>
                </a:solidFill>
                <a:latin typeface="JetBrains Mono"/>
                <a:ea typeface="JetBrains Mono"/>
                <a:cs typeface="JetBrains Mono"/>
                <a:sym typeface="JetBrains Mono"/>
              </a:rPr>
              <a:t>144</a:t>
            </a:r>
            <a:endParaRPr sz="1800">
              <a:solidFill>
                <a:schemeClr val="accent1"/>
              </a:solidFill>
              <a:latin typeface="JetBrains Mono"/>
              <a:ea typeface="JetBrains Mono"/>
              <a:cs typeface="JetBrains Mono"/>
              <a:sym typeface="JetBrains Mono"/>
            </a:endParaRPr>
          </a:p>
        </p:txBody>
      </p:sp>
      <p:sp>
        <p:nvSpPr>
          <p:cNvPr id="388" name="Google Shape;388;p38"/>
          <p:cNvSpPr/>
          <p:nvPr/>
        </p:nvSpPr>
        <p:spPr>
          <a:xfrm>
            <a:off x="2515357" y="3597355"/>
            <a:ext cx="414000" cy="3825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38"/>
          <p:cNvSpPr/>
          <p:nvPr/>
        </p:nvSpPr>
        <p:spPr>
          <a:xfrm>
            <a:off x="7329633" y="3133559"/>
            <a:ext cx="414000" cy="3825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38"/>
          <p:cNvSpPr txBox="1"/>
          <p:nvPr/>
        </p:nvSpPr>
        <p:spPr>
          <a:xfrm>
            <a:off x="2143046" y="4304375"/>
            <a:ext cx="460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FF"/>
                </a:solidFill>
                <a:latin typeface="SUSE"/>
                <a:ea typeface="SUSE"/>
                <a:cs typeface="SUSE"/>
                <a:sym typeface="SUSE"/>
              </a:rPr>
              <a:t>Same inode numbers! Is something wrong?</a:t>
            </a:r>
            <a:endParaRPr sz="1800">
              <a:solidFill>
                <a:srgbClr val="FF00FF"/>
              </a:solidFill>
              <a:latin typeface="SUSE"/>
              <a:ea typeface="SUSE"/>
              <a:cs typeface="SUSE"/>
              <a:sym typeface="SUS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Hard links</a:t>
            </a:r>
            <a:endParaRPr>
              <a:latin typeface="SUSE SemiBold"/>
              <a:ea typeface="SUSE SemiBold"/>
              <a:cs typeface="SUSE SemiBold"/>
              <a:sym typeface="SUSE SemiBold"/>
            </a:endParaRPr>
          </a:p>
        </p:txBody>
      </p:sp>
      <p:sp>
        <p:nvSpPr>
          <p:cNvPr id="396" name="Google Shape;396;p39"/>
          <p:cNvSpPr txBox="1"/>
          <p:nvPr>
            <p:ph idx="1" type="body"/>
          </p:nvPr>
        </p:nvSpPr>
        <p:spPr>
          <a:xfrm>
            <a:off x="311700" y="1017725"/>
            <a:ext cx="8520600" cy="132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This means that these two files share the same blocks on disk. Therefore writing to one will also update the other file.</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Useful in situations where you want to keep multiple files synced with each other.</a:t>
            </a:r>
            <a:endParaRPr>
              <a:latin typeface="SUSE"/>
              <a:ea typeface="SUSE"/>
              <a:cs typeface="SUSE"/>
              <a:sym typeface="SUSE"/>
            </a:endParaRPr>
          </a:p>
        </p:txBody>
      </p:sp>
      <p:sp>
        <p:nvSpPr>
          <p:cNvPr id="397" name="Google Shape;397;p39"/>
          <p:cNvSpPr txBox="1"/>
          <p:nvPr/>
        </p:nvSpPr>
        <p:spPr>
          <a:xfrm>
            <a:off x="667145" y="2629100"/>
            <a:ext cx="19827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/home/crowtum</a:t>
            </a:r>
            <a:endParaRPr sz="1800">
              <a:solidFill>
                <a:schemeClr val="dk2"/>
              </a:solidFill>
              <a:latin typeface="JetBrains Mono"/>
              <a:ea typeface="JetBrains Mono"/>
              <a:cs typeface="JetBrains Mono"/>
              <a:sym typeface="JetBrains Mono"/>
            </a:endParaRPr>
          </a:p>
        </p:txBody>
      </p:sp>
      <p:sp>
        <p:nvSpPr>
          <p:cNvPr id="398" name="Google Shape;398;p39"/>
          <p:cNvSpPr txBox="1"/>
          <p:nvPr/>
        </p:nvSpPr>
        <p:spPr>
          <a:xfrm>
            <a:off x="5352904" y="2629100"/>
            <a:ext cx="29349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JetBrains Mono"/>
                <a:ea typeface="JetBrains Mono"/>
                <a:cs typeface="JetBrains Mono"/>
                <a:sym typeface="JetBrains Mono"/>
              </a:rPr>
              <a:t>/home/ristiavdaatnso</a:t>
            </a:r>
            <a:endParaRPr sz="1800">
              <a:solidFill>
                <a:schemeClr val="dk2"/>
              </a:solidFill>
              <a:latin typeface="JetBrains Mono"/>
              <a:ea typeface="JetBrains Mono"/>
              <a:cs typeface="JetBrains Mono"/>
              <a:sym typeface="JetBrains Mono"/>
            </a:endParaRPr>
          </a:p>
        </p:txBody>
      </p:sp>
      <p:sp>
        <p:nvSpPr>
          <p:cNvPr id="399" name="Google Shape;399;p39"/>
          <p:cNvSpPr txBox="1"/>
          <p:nvPr/>
        </p:nvSpPr>
        <p:spPr>
          <a:xfrm>
            <a:off x="977231" y="3092900"/>
            <a:ext cx="20679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90000"/>
                </a:solidFill>
                <a:latin typeface="JetBrains Mono"/>
                <a:ea typeface="JetBrains Mono"/>
                <a:cs typeface="JetBrains Mono"/>
                <a:sym typeface="JetBrains Mono"/>
              </a:rPr>
              <a:t>a.txt</a:t>
            </a:r>
            <a:r>
              <a:rPr lang="en" sz="1800">
                <a:solidFill>
                  <a:schemeClr val="dk2"/>
                </a:solidFill>
                <a:latin typeface="JetBrains Mono"/>
                <a:ea typeface="JetBrains Mono"/>
                <a:cs typeface="JetBrains Mono"/>
                <a:sym typeface="JetBrains Mono"/>
              </a:rPr>
              <a:t>      </a:t>
            </a:r>
            <a:r>
              <a:rPr lang="en" sz="1800">
                <a:solidFill>
                  <a:schemeClr val="accent1"/>
                </a:solidFill>
                <a:latin typeface="JetBrains Mono"/>
                <a:ea typeface="JetBrains Mono"/>
                <a:cs typeface="JetBrains Mono"/>
                <a:sym typeface="JetBrains Mono"/>
              </a:rPr>
              <a:t>25</a:t>
            </a:r>
            <a:endParaRPr sz="1800">
              <a:solidFill>
                <a:schemeClr val="accent1"/>
              </a:solidFill>
              <a:latin typeface="JetBrains Mono"/>
              <a:ea typeface="JetBrains Mono"/>
              <a:cs typeface="JetBrains Mono"/>
              <a:sym typeface="JetBrains Mono"/>
            </a:endParaRPr>
          </a:p>
        </p:txBody>
      </p:sp>
      <p:sp>
        <p:nvSpPr>
          <p:cNvPr id="400" name="Google Shape;400;p39"/>
          <p:cNvSpPr txBox="1"/>
          <p:nvPr/>
        </p:nvSpPr>
        <p:spPr>
          <a:xfrm>
            <a:off x="977225" y="3556700"/>
            <a:ext cx="20679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80000"/>
                </a:solidFill>
                <a:latin typeface="JetBrains Mono"/>
                <a:ea typeface="JetBrains Mono"/>
                <a:cs typeface="JetBrains Mono"/>
                <a:sym typeface="JetBrains Mono"/>
              </a:rPr>
              <a:t>b.txt</a:t>
            </a:r>
            <a:r>
              <a:rPr lang="en" sz="1800">
                <a:solidFill>
                  <a:schemeClr val="dk2"/>
                </a:solidFill>
                <a:latin typeface="JetBrains Mono"/>
                <a:ea typeface="JetBrains Mono"/>
                <a:cs typeface="JetBrains Mono"/>
                <a:sym typeface="JetBrains Mono"/>
              </a:rPr>
              <a:t>      </a:t>
            </a:r>
            <a:r>
              <a:rPr lang="en" sz="1800">
                <a:solidFill>
                  <a:schemeClr val="accent1"/>
                </a:solidFill>
                <a:latin typeface="JetBrains Mono"/>
                <a:ea typeface="JetBrains Mono"/>
                <a:cs typeface="JetBrains Mono"/>
                <a:sym typeface="JetBrains Mono"/>
              </a:rPr>
              <a:t>87</a:t>
            </a:r>
            <a:endParaRPr sz="1800">
              <a:solidFill>
                <a:schemeClr val="accent1"/>
              </a:solidFill>
              <a:latin typeface="JetBrains Mono"/>
              <a:ea typeface="JetBrains Mono"/>
              <a:cs typeface="JetBrains Mono"/>
              <a:sym typeface="JetBrains Mono"/>
            </a:endParaRPr>
          </a:p>
        </p:txBody>
      </p:sp>
      <p:sp>
        <p:nvSpPr>
          <p:cNvPr id="401" name="Google Shape;401;p39"/>
          <p:cNvSpPr txBox="1"/>
          <p:nvPr/>
        </p:nvSpPr>
        <p:spPr>
          <a:xfrm>
            <a:off x="5786397" y="3092904"/>
            <a:ext cx="20679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80000"/>
                </a:solidFill>
                <a:latin typeface="JetBrains Mono"/>
                <a:ea typeface="JetBrains Mono"/>
                <a:cs typeface="JetBrains Mono"/>
                <a:sym typeface="JetBrains Mono"/>
              </a:rPr>
              <a:t>a.txt</a:t>
            </a:r>
            <a:r>
              <a:rPr lang="en" sz="1800">
                <a:solidFill>
                  <a:schemeClr val="dk2"/>
                </a:solidFill>
                <a:latin typeface="JetBrains Mono"/>
                <a:ea typeface="JetBrains Mono"/>
                <a:cs typeface="JetBrains Mono"/>
                <a:sym typeface="JetBrains Mono"/>
              </a:rPr>
              <a:t>      </a:t>
            </a:r>
            <a:r>
              <a:rPr lang="en" sz="1800">
                <a:solidFill>
                  <a:schemeClr val="accent1"/>
                </a:solidFill>
                <a:latin typeface="JetBrains Mono"/>
                <a:ea typeface="JetBrains Mono"/>
                <a:cs typeface="JetBrains Mono"/>
                <a:sym typeface="JetBrains Mono"/>
              </a:rPr>
              <a:t>87</a:t>
            </a:r>
            <a:endParaRPr sz="1800">
              <a:solidFill>
                <a:schemeClr val="accent1"/>
              </a:solidFill>
              <a:latin typeface="JetBrains Mono"/>
              <a:ea typeface="JetBrains Mono"/>
              <a:cs typeface="JetBrains Mono"/>
              <a:sym typeface="JetBrains Mono"/>
            </a:endParaRPr>
          </a:p>
        </p:txBody>
      </p:sp>
      <p:sp>
        <p:nvSpPr>
          <p:cNvPr id="402" name="Google Shape;402;p39"/>
          <p:cNvSpPr txBox="1"/>
          <p:nvPr/>
        </p:nvSpPr>
        <p:spPr>
          <a:xfrm>
            <a:off x="5786398" y="3556704"/>
            <a:ext cx="20679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980000"/>
                </a:solidFill>
                <a:latin typeface="JetBrains Mono"/>
                <a:ea typeface="JetBrains Mono"/>
                <a:cs typeface="JetBrains Mono"/>
                <a:sym typeface="JetBrains Mono"/>
              </a:rPr>
              <a:t>b.txt</a:t>
            </a:r>
            <a:r>
              <a:rPr lang="en" sz="1800">
                <a:solidFill>
                  <a:schemeClr val="dk2"/>
                </a:solidFill>
                <a:latin typeface="JetBrains Mono"/>
                <a:ea typeface="JetBrains Mono"/>
                <a:cs typeface="JetBrains Mono"/>
                <a:sym typeface="JetBrains Mono"/>
              </a:rPr>
              <a:t>     </a:t>
            </a:r>
            <a:r>
              <a:rPr lang="en" sz="1800">
                <a:solidFill>
                  <a:schemeClr val="accent1"/>
                </a:solidFill>
                <a:latin typeface="JetBrains Mono"/>
                <a:ea typeface="JetBrains Mono"/>
                <a:cs typeface="JetBrains Mono"/>
                <a:sym typeface="JetBrains Mono"/>
              </a:rPr>
              <a:t>144</a:t>
            </a:r>
            <a:endParaRPr sz="1800">
              <a:solidFill>
                <a:schemeClr val="accent1"/>
              </a:solidFill>
              <a:latin typeface="JetBrains Mono"/>
              <a:ea typeface="JetBrains Mono"/>
              <a:cs typeface="JetBrains Mono"/>
              <a:sym typeface="JetBrains Mono"/>
            </a:endParaRPr>
          </a:p>
        </p:txBody>
      </p:sp>
      <p:sp>
        <p:nvSpPr>
          <p:cNvPr id="403" name="Google Shape;403;p39"/>
          <p:cNvSpPr/>
          <p:nvPr/>
        </p:nvSpPr>
        <p:spPr>
          <a:xfrm>
            <a:off x="2515357" y="3597355"/>
            <a:ext cx="414000" cy="3825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39"/>
          <p:cNvSpPr/>
          <p:nvPr/>
        </p:nvSpPr>
        <p:spPr>
          <a:xfrm>
            <a:off x="7329633" y="3133559"/>
            <a:ext cx="414000" cy="3825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Hard links</a:t>
            </a:r>
            <a:endParaRPr>
              <a:latin typeface="SUSE SemiBold"/>
              <a:ea typeface="SUSE SemiBold"/>
              <a:cs typeface="SUSE SemiBold"/>
              <a:sym typeface="SUSE SemiBold"/>
            </a:endParaRPr>
          </a:p>
        </p:txBody>
      </p:sp>
      <p:sp>
        <p:nvSpPr>
          <p:cNvPr id="410" name="Google Shape;410;p40"/>
          <p:cNvSpPr txBox="1"/>
          <p:nvPr>
            <p:ph idx="1" type="body"/>
          </p:nvPr>
        </p:nvSpPr>
        <p:spPr>
          <a:xfrm>
            <a:off x="311700" y="1017725"/>
            <a:ext cx="8520600" cy="389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This means that these two files share the same blocks on disk. Therefore writing to one will also update the other file.</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Useful in situations where you want to keep multiple files synced with each other.</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This is called a </a:t>
            </a:r>
            <a:r>
              <a:rPr b="1" lang="en">
                <a:latin typeface="SUSE"/>
                <a:ea typeface="SUSE"/>
                <a:cs typeface="SUSE"/>
                <a:sym typeface="SUSE"/>
              </a:rPr>
              <a:t>hard link</a:t>
            </a:r>
            <a:r>
              <a:rPr lang="en">
                <a:latin typeface="SUSE"/>
                <a:ea typeface="SUSE"/>
                <a:cs typeface="SUSE"/>
                <a:sym typeface="SUSE"/>
              </a:rPr>
              <a:t>.</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When you delete one file, the other one still points to the same inode and data and won’t get affected.</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The </a:t>
            </a:r>
            <a:r>
              <a:rPr lang="en">
                <a:solidFill>
                  <a:srgbClr val="0000FF"/>
                </a:solidFill>
                <a:latin typeface="JetBrains Mono"/>
                <a:ea typeface="JetBrains Mono"/>
                <a:cs typeface="JetBrains Mono"/>
                <a:sym typeface="JetBrains Mono"/>
              </a:rPr>
              <a:t>link()</a:t>
            </a:r>
            <a:r>
              <a:rPr lang="en">
                <a:latin typeface="SUSE"/>
                <a:ea typeface="SUSE"/>
                <a:cs typeface="SUSE"/>
                <a:sym typeface="SUSE"/>
              </a:rPr>
              <a:t> </a:t>
            </a:r>
            <a:r>
              <a:rPr lang="en">
                <a:latin typeface="SUSE"/>
                <a:ea typeface="SUSE"/>
                <a:cs typeface="SUSE"/>
                <a:sym typeface="SUSE"/>
              </a:rPr>
              <a:t>system</a:t>
            </a:r>
            <a:r>
              <a:rPr lang="en">
                <a:latin typeface="SUSE"/>
                <a:ea typeface="SUSE"/>
                <a:cs typeface="SUSE"/>
                <a:sym typeface="SUSE"/>
              </a:rPr>
              <a:t> call links a path to an inode.</a:t>
            </a:r>
            <a:endParaRPr>
              <a:latin typeface="SUSE"/>
              <a:ea typeface="SUSE"/>
              <a:cs typeface="SUSE"/>
              <a:sym typeface="SUS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S</a:t>
            </a:r>
            <a:r>
              <a:rPr lang="en">
                <a:latin typeface="SUSE SemiBold"/>
                <a:ea typeface="SUSE SemiBold"/>
                <a:cs typeface="SUSE SemiBold"/>
                <a:sym typeface="SUSE SemiBold"/>
              </a:rPr>
              <a:t>oft links</a:t>
            </a:r>
            <a:endParaRPr>
              <a:latin typeface="SUSE SemiBold"/>
              <a:ea typeface="SUSE SemiBold"/>
              <a:cs typeface="SUSE SemiBold"/>
              <a:sym typeface="SUSE SemiBold"/>
            </a:endParaRPr>
          </a:p>
        </p:txBody>
      </p:sp>
      <p:sp>
        <p:nvSpPr>
          <p:cNvPr id="416" name="Google Shape;416;p41"/>
          <p:cNvSpPr txBox="1"/>
          <p:nvPr>
            <p:ph idx="1" type="body"/>
          </p:nvPr>
        </p:nvSpPr>
        <p:spPr>
          <a:xfrm>
            <a:off x="311700" y="1017725"/>
            <a:ext cx="8520600" cy="310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SUSE"/>
                <a:ea typeface="SUSE"/>
                <a:cs typeface="SUSE"/>
                <a:sym typeface="SUSE"/>
              </a:rPr>
              <a:t>There’s another type of link: the soft link, a.k.a symbolic link.</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This points to a file/directory itself, rather than to the inode.</a:t>
            </a:r>
            <a:endParaRPr>
              <a:latin typeface="SUSE"/>
              <a:ea typeface="SUSE"/>
              <a:cs typeface="SUSE"/>
              <a:sym typeface="SUSE"/>
            </a:endParaRPr>
          </a:p>
          <a:p>
            <a:pPr indent="0" lvl="0" marL="0" rtl="0" algn="l">
              <a:spcBef>
                <a:spcPts val="1200"/>
              </a:spcBef>
              <a:spcAft>
                <a:spcPts val="0"/>
              </a:spcAft>
              <a:buNone/>
            </a:pPr>
            <a:r>
              <a:rPr lang="en">
                <a:latin typeface="SUSE"/>
                <a:ea typeface="SUSE"/>
                <a:cs typeface="SUSE"/>
                <a:sym typeface="SUSE"/>
              </a:rPr>
              <a:t>The metadata of this symlink is stored in a separate inode as opposed to a hard link where the inode is shared.</a:t>
            </a:r>
            <a:endParaRPr>
              <a:latin typeface="SUSE"/>
              <a:ea typeface="SUSE"/>
              <a:cs typeface="SUSE"/>
              <a:sym typeface="SUSE"/>
            </a:endParaRPr>
          </a:p>
          <a:p>
            <a:pPr indent="0" lvl="0" marL="0" rtl="0" algn="l">
              <a:spcBef>
                <a:spcPts val="1200"/>
              </a:spcBef>
              <a:spcAft>
                <a:spcPts val="1200"/>
              </a:spcAft>
              <a:buNone/>
            </a:pPr>
            <a:r>
              <a:rPr lang="en">
                <a:latin typeface="SUSE"/>
                <a:ea typeface="SUSE"/>
                <a:cs typeface="SUSE"/>
                <a:sym typeface="SUSE"/>
              </a:rPr>
              <a:t>This means that if the destination of the symlink were to get deleted, the symlink is </a:t>
            </a:r>
            <a:r>
              <a:rPr b="1" lang="en">
                <a:latin typeface="SUSE"/>
                <a:ea typeface="SUSE"/>
                <a:cs typeface="SUSE"/>
                <a:sym typeface="SUSE"/>
              </a:rPr>
              <a:t>no longer valid</a:t>
            </a:r>
            <a:r>
              <a:rPr lang="en">
                <a:latin typeface="SUSE"/>
                <a:ea typeface="SUSE"/>
                <a:cs typeface="SUSE"/>
                <a:sym typeface="SUSE"/>
              </a:rPr>
              <a:t>.</a:t>
            </a:r>
            <a:endParaRPr>
              <a:latin typeface="SUSE"/>
              <a:ea typeface="SUSE"/>
              <a:cs typeface="SUSE"/>
              <a:sym typeface="SUS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Hard vs soft links</a:t>
            </a:r>
            <a:endParaRPr>
              <a:latin typeface="SUSE SemiBold"/>
              <a:ea typeface="SUSE SemiBold"/>
              <a:cs typeface="SUSE SemiBold"/>
              <a:sym typeface="SUSE SemiBold"/>
            </a:endParaRPr>
          </a:p>
        </p:txBody>
      </p:sp>
      <p:sp>
        <p:nvSpPr>
          <p:cNvPr id="422" name="Google Shape;422;p42"/>
          <p:cNvSpPr/>
          <p:nvPr/>
        </p:nvSpPr>
        <p:spPr>
          <a:xfrm>
            <a:off x="812950" y="1344500"/>
            <a:ext cx="867600" cy="797400"/>
          </a:xfrm>
          <a:prstGeom prst="roundRect">
            <a:avLst>
              <a:gd fmla="val 16667" name="adj"/>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42"/>
          <p:cNvSpPr/>
          <p:nvPr/>
        </p:nvSpPr>
        <p:spPr>
          <a:xfrm>
            <a:off x="2653800" y="1344500"/>
            <a:ext cx="867600" cy="797400"/>
          </a:xfrm>
          <a:prstGeom prst="roundRect">
            <a:avLst>
              <a:gd fmla="val 16667" name="adj"/>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4" name="Google Shape;424;p42"/>
          <p:cNvSpPr/>
          <p:nvPr/>
        </p:nvSpPr>
        <p:spPr>
          <a:xfrm>
            <a:off x="5108300" y="1344500"/>
            <a:ext cx="867600" cy="797400"/>
          </a:xfrm>
          <a:prstGeom prst="roundRect">
            <a:avLst>
              <a:gd fmla="val 16667" name="adj"/>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5" name="Google Shape;425;p42"/>
          <p:cNvSpPr/>
          <p:nvPr/>
        </p:nvSpPr>
        <p:spPr>
          <a:xfrm>
            <a:off x="7402525" y="1344500"/>
            <a:ext cx="867600" cy="797400"/>
          </a:xfrm>
          <a:prstGeom prst="roundRect">
            <a:avLst>
              <a:gd fmla="val 16667" name="adj"/>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42"/>
          <p:cNvSpPr/>
          <p:nvPr/>
        </p:nvSpPr>
        <p:spPr>
          <a:xfrm>
            <a:off x="1731425" y="3302600"/>
            <a:ext cx="867600" cy="7974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7" name="Google Shape;427;p42"/>
          <p:cNvSpPr/>
          <p:nvPr/>
        </p:nvSpPr>
        <p:spPr>
          <a:xfrm>
            <a:off x="6417625" y="3302600"/>
            <a:ext cx="867600" cy="7974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28" name="Google Shape;428;p42"/>
          <p:cNvCxnSpPr>
            <a:stCxn id="422" idx="2"/>
            <a:endCxn id="426" idx="0"/>
          </p:cNvCxnSpPr>
          <p:nvPr/>
        </p:nvCxnSpPr>
        <p:spPr>
          <a:xfrm>
            <a:off x="1246750" y="2141900"/>
            <a:ext cx="918600" cy="1160700"/>
          </a:xfrm>
          <a:prstGeom prst="straightConnector1">
            <a:avLst/>
          </a:prstGeom>
          <a:noFill/>
          <a:ln cap="flat" cmpd="sng" w="9525">
            <a:solidFill>
              <a:schemeClr val="dk2"/>
            </a:solidFill>
            <a:prstDash val="solid"/>
            <a:round/>
            <a:headEnd len="med" w="med" type="none"/>
            <a:tailEnd len="med" w="med" type="triangle"/>
          </a:ln>
        </p:spPr>
      </p:cxnSp>
      <p:cxnSp>
        <p:nvCxnSpPr>
          <p:cNvPr id="429" name="Google Shape;429;p42"/>
          <p:cNvCxnSpPr>
            <a:stCxn id="423" idx="2"/>
            <a:endCxn id="426" idx="0"/>
          </p:cNvCxnSpPr>
          <p:nvPr/>
        </p:nvCxnSpPr>
        <p:spPr>
          <a:xfrm flipH="1">
            <a:off x="2165100" y="2141900"/>
            <a:ext cx="922500" cy="1160700"/>
          </a:xfrm>
          <a:prstGeom prst="straightConnector1">
            <a:avLst/>
          </a:prstGeom>
          <a:noFill/>
          <a:ln cap="flat" cmpd="sng" w="9525">
            <a:solidFill>
              <a:schemeClr val="dk2"/>
            </a:solidFill>
            <a:prstDash val="solid"/>
            <a:round/>
            <a:headEnd len="med" w="med" type="none"/>
            <a:tailEnd len="med" w="med" type="triangle"/>
          </a:ln>
        </p:spPr>
      </p:cxnSp>
      <p:cxnSp>
        <p:nvCxnSpPr>
          <p:cNvPr id="430" name="Google Shape;430;p42"/>
          <p:cNvCxnSpPr>
            <a:stCxn id="424" idx="3"/>
            <a:endCxn id="425" idx="1"/>
          </p:cNvCxnSpPr>
          <p:nvPr/>
        </p:nvCxnSpPr>
        <p:spPr>
          <a:xfrm>
            <a:off x="5975900" y="1743200"/>
            <a:ext cx="1426500" cy="0"/>
          </a:xfrm>
          <a:prstGeom prst="straightConnector1">
            <a:avLst/>
          </a:prstGeom>
          <a:noFill/>
          <a:ln cap="flat" cmpd="sng" w="9525">
            <a:solidFill>
              <a:schemeClr val="dk2"/>
            </a:solidFill>
            <a:prstDash val="solid"/>
            <a:round/>
            <a:headEnd len="med" w="med" type="none"/>
            <a:tailEnd len="med" w="med" type="triangle"/>
          </a:ln>
        </p:spPr>
      </p:cxnSp>
      <p:cxnSp>
        <p:nvCxnSpPr>
          <p:cNvPr id="431" name="Google Shape;431;p42"/>
          <p:cNvCxnSpPr>
            <a:stCxn id="425" idx="2"/>
            <a:endCxn id="427" idx="0"/>
          </p:cNvCxnSpPr>
          <p:nvPr/>
        </p:nvCxnSpPr>
        <p:spPr>
          <a:xfrm flipH="1">
            <a:off x="6851425" y="2141900"/>
            <a:ext cx="984900" cy="1160700"/>
          </a:xfrm>
          <a:prstGeom prst="straightConnector1">
            <a:avLst/>
          </a:prstGeom>
          <a:noFill/>
          <a:ln cap="flat" cmpd="sng" w="9525">
            <a:solidFill>
              <a:schemeClr val="dk2"/>
            </a:solidFill>
            <a:prstDash val="solid"/>
            <a:round/>
            <a:headEnd len="med" w="med" type="none"/>
            <a:tailEnd len="med" w="med" type="triangle"/>
          </a:ln>
        </p:spPr>
      </p:cxnSp>
      <p:sp>
        <p:nvSpPr>
          <p:cNvPr id="432" name="Google Shape;432;p42"/>
          <p:cNvSpPr txBox="1"/>
          <p:nvPr/>
        </p:nvSpPr>
        <p:spPr>
          <a:xfrm>
            <a:off x="861700" y="15516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file1</a:t>
            </a:r>
            <a:endParaRPr sz="1500">
              <a:solidFill>
                <a:schemeClr val="lt1"/>
              </a:solidFill>
              <a:latin typeface="JetBrains Mono"/>
              <a:ea typeface="JetBrains Mono"/>
              <a:cs typeface="JetBrains Mono"/>
              <a:sym typeface="JetBrains Mono"/>
            </a:endParaRPr>
          </a:p>
        </p:txBody>
      </p:sp>
      <p:sp>
        <p:nvSpPr>
          <p:cNvPr id="433" name="Google Shape;433;p42"/>
          <p:cNvSpPr txBox="1"/>
          <p:nvPr/>
        </p:nvSpPr>
        <p:spPr>
          <a:xfrm>
            <a:off x="2702550" y="15516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file2</a:t>
            </a:r>
            <a:endParaRPr sz="1500">
              <a:solidFill>
                <a:schemeClr val="lt1"/>
              </a:solidFill>
              <a:latin typeface="JetBrains Mono"/>
              <a:ea typeface="JetBrains Mono"/>
              <a:cs typeface="JetBrains Mono"/>
              <a:sym typeface="JetBrains Mono"/>
            </a:endParaRPr>
          </a:p>
        </p:txBody>
      </p:sp>
      <p:sp>
        <p:nvSpPr>
          <p:cNvPr id="434" name="Google Shape;434;p42"/>
          <p:cNvSpPr txBox="1"/>
          <p:nvPr/>
        </p:nvSpPr>
        <p:spPr>
          <a:xfrm>
            <a:off x="5157050" y="15516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file1</a:t>
            </a:r>
            <a:endParaRPr sz="1500">
              <a:solidFill>
                <a:schemeClr val="lt1"/>
              </a:solidFill>
              <a:latin typeface="JetBrains Mono"/>
              <a:ea typeface="JetBrains Mono"/>
              <a:cs typeface="JetBrains Mono"/>
              <a:sym typeface="JetBrains Mono"/>
            </a:endParaRPr>
          </a:p>
        </p:txBody>
      </p:sp>
      <p:sp>
        <p:nvSpPr>
          <p:cNvPr id="435" name="Google Shape;435;p42"/>
          <p:cNvSpPr txBox="1"/>
          <p:nvPr/>
        </p:nvSpPr>
        <p:spPr>
          <a:xfrm>
            <a:off x="7451150" y="15516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file2</a:t>
            </a:r>
            <a:endParaRPr sz="1500">
              <a:solidFill>
                <a:schemeClr val="lt1"/>
              </a:solidFill>
              <a:latin typeface="JetBrains Mono"/>
              <a:ea typeface="JetBrains Mono"/>
              <a:cs typeface="JetBrains Mono"/>
              <a:sym typeface="JetBrains Mono"/>
            </a:endParaRPr>
          </a:p>
        </p:txBody>
      </p:sp>
      <p:sp>
        <p:nvSpPr>
          <p:cNvPr id="436" name="Google Shape;436;p42"/>
          <p:cNvSpPr txBox="1"/>
          <p:nvPr/>
        </p:nvSpPr>
        <p:spPr>
          <a:xfrm>
            <a:off x="1780175" y="35097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inode</a:t>
            </a:r>
            <a:endParaRPr sz="1500">
              <a:solidFill>
                <a:schemeClr val="lt1"/>
              </a:solidFill>
              <a:latin typeface="JetBrains Mono"/>
              <a:ea typeface="JetBrains Mono"/>
              <a:cs typeface="JetBrains Mono"/>
              <a:sym typeface="JetBrains Mono"/>
            </a:endParaRPr>
          </a:p>
        </p:txBody>
      </p:sp>
      <p:sp>
        <p:nvSpPr>
          <p:cNvPr id="437" name="Google Shape;437;p42"/>
          <p:cNvSpPr txBox="1"/>
          <p:nvPr/>
        </p:nvSpPr>
        <p:spPr>
          <a:xfrm>
            <a:off x="6466375" y="35097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inode</a:t>
            </a:r>
            <a:endParaRPr sz="1500">
              <a:solidFill>
                <a:schemeClr val="lt1"/>
              </a:solidFill>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Hard vs soft links</a:t>
            </a:r>
            <a:endParaRPr>
              <a:latin typeface="SUSE SemiBold"/>
              <a:ea typeface="SUSE SemiBold"/>
              <a:cs typeface="SUSE SemiBold"/>
              <a:sym typeface="SUSE SemiBold"/>
            </a:endParaRPr>
          </a:p>
        </p:txBody>
      </p:sp>
      <p:sp>
        <p:nvSpPr>
          <p:cNvPr id="443" name="Google Shape;443;p43"/>
          <p:cNvSpPr/>
          <p:nvPr/>
        </p:nvSpPr>
        <p:spPr>
          <a:xfrm>
            <a:off x="812950" y="1344500"/>
            <a:ext cx="867600" cy="797400"/>
          </a:xfrm>
          <a:prstGeom prst="roundRect">
            <a:avLst>
              <a:gd fmla="val 16667" name="adj"/>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43"/>
          <p:cNvSpPr/>
          <p:nvPr/>
        </p:nvSpPr>
        <p:spPr>
          <a:xfrm>
            <a:off x="2653800" y="1344500"/>
            <a:ext cx="867600" cy="797400"/>
          </a:xfrm>
          <a:prstGeom prst="roundRect">
            <a:avLst>
              <a:gd fmla="val 16667" name="adj"/>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43"/>
          <p:cNvSpPr/>
          <p:nvPr/>
        </p:nvSpPr>
        <p:spPr>
          <a:xfrm>
            <a:off x="5108300" y="1344500"/>
            <a:ext cx="867600" cy="797400"/>
          </a:xfrm>
          <a:prstGeom prst="roundRect">
            <a:avLst>
              <a:gd fmla="val 16667" name="adj"/>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43"/>
          <p:cNvSpPr/>
          <p:nvPr/>
        </p:nvSpPr>
        <p:spPr>
          <a:xfrm>
            <a:off x="7402525" y="1344500"/>
            <a:ext cx="867600" cy="797400"/>
          </a:xfrm>
          <a:prstGeom prst="roundRect">
            <a:avLst>
              <a:gd fmla="val 16667" name="adj"/>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43"/>
          <p:cNvSpPr/>
          <p:nvPr/>
        </p:nvSpPr>
        <p:spPr>
          <a:xfrm>
            <a:off x="861700" y="3376825"/>
            <a:ext cx="867600" cy="7974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43"/>
          <p:cNvSpPr/>
          <p:nvPr/>
        </p:nvSpPr>
        <p:spPr>
          <a:xfrm>
            <a:off x="6417625" y="3302600"/>
            <a:ext cx="867600" cy="7974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49" name="Google Shape;449;p43"/>
          <p:cNvCxnSpPr>
            <a:stCxn id="443" idx="2"/>
            <a:endCxn id="447" idx="0"/>
          </p:cNvCxnSpPr>
          <p:nvPr/>
        </p:nvCxnSpPr>
        <p:spPr>
          <a:xfrm>
            <a:off x="1246750" y="2141900"/>
            <a:ext cx="48900" cy="1234800"/>
          </a:xfrm>
          <a:prstGeom prst="straightConnector1">
            <a:avLst/>
          </a:prstGeom>
          <a:noFill/>
          <a:ln cap="flat" cmpd="sng" w="9525">
            <a:solidFill>
              <a:schemeClr val="dk2"/>
            </a:solidFill>
            <a:prstDash val="solid"/>
            <a:round/>
            <a:headEnd len="med" w="med" type="none"/>
            <a:tailEnd len="med" w="med" type="triangle"/>
          </a:ln>
        </p:spPr>
      </p:cxnSp>
      <p:cxnSp>
        <p:nvCxnSpPr>
          <p:cNvPr id="450" name="Google Shape;450;p43"/>
          <p:cNvCxnSpPr>
            <a:stCxn id="447" idx="0"/>
            <a:endCxn id="444" idx="2"/>
          </p:cNvCxnSpPr>
          <p:nvPr/>
        </p:nvCxnSpPr>
        <p:spPr>
          <a:xfrm flipH="1" rot="10800000">
            <a:off x="1295500" y="2142025"/>
            <a:ext cx="1792200" cy="1234800"/>
          </a:xfrm>
          <a:prstGeom prst="straightConnector1">
            <a:avLst/>
          </a:prstGeom>
          <a:noFill/>
          <a:ln cap="flat" cmpd="sng" w="9525">
            <a:solidFill>
              <a:schemeClr val="dk2"/>
            </a:solidFill>
            <a:prstDash val="solid"/>
            <a:round/>
            <a:headEnd len="med" w="med" type="none"/>
            <a:tailEnd len="med" w="med" type="triangle"/>
          </a:ln>
        </p:spPr>
      </p:cxnSp>
      <p:cxnSp>
        <p:nvCxnSpPr>
          <p:cNvPr id="451" name="Google Shape;451;p43"/>
          <p:cNvCxnSpPr>
            <a:stCxn id="445" idx="3"/>
            <a:endCxn id="446" idx="1"/>
          </p:cNvCxnSpPr>
          <p:nvPr/>
        </p:nvCxnSpPr>
        <p:spPr>
          <a:xfrm>
            <a:off x="5975900" y="1743200"/>
            <a:ext cx="1426500" cy="0"/>
          </a:xfrm>
          <a:prstGeom prst="straightConnector1">
            <a:avLst/>
          </a:prstGeom>
          <a:noFill/>
          <a:ln cap="flat" cmpd="sng" w="9525">
            <a:solidFill>
              <a:schemeClr val="dk2"/>
            </a:solidFill>
            <a:prstDash val="solid"/>
            <a:round/>
            <a:headEnd len="med" w="med" type="none"/>
            <a:tailEnd len="med" w="med" type="triangle"/>
          </a:ln>
        </p:spPr>
      </p:cxnSp>
      <p:cxnSp>
        <p:nvCxnSpPr>
          <p:cNvPr id="452" name="Google Shape;452;p43"/>
          <p:cNvCxnSpPr>
            <a:stCxn id="446" idx="2"/>
            <a:endCxn id="448" idx="0"/>
          </p:cNvCxnSpPr>
          <p:nvPr/>
        </p:nvCxnSpPr>
        <p:spPr>
          <a:xfrm flipH="1">
            <a:off x="6851425" y="2141900"/>
            <a:ext cx="984900" cy="1160700"/>
          </a:xfrm>
          <a:prstGeom prst="straightConnector1">
            <a:avLst/>
          </a:prstGeom>
          <a:noFill/>
          <a:ln cap="flat" cmpd="sng" w="9525">
            <a:solidFill>
              <a:schemeClr val="dk2"/>
            </a:solidFill>
            <a:prstDash val="solid"/>
            <a:round/>
            <a:headEnd len="med" w="med" type="none"/>
            <a:tailEnd len="med" w="med" type="triangle"/>
          </a:ln>
        </p:spPr>
      </p:cxnSp>
      <p:sp>
        <p:nvSpPr>
          <p:cNvPr id="453" name="Google Shape;453;p43"/>
          <p:cNvSpPr txBox="1"/>
          <p:nvPr/>
        </p:nvSpPr>
        <p:spPr>
          <a:xfrm>
            <a:off x="861700" y="15516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file1</a:t>
            </a:r>
            <a:endParaRPr sz="1500">
              <a:solidFill>
                <a:schemeClr val="lt1"/>
              </a:solidFill>
              <a:latin typeface="JetBrains Mono"/>
              <a:ea typeface="JetBrains Mono"/>
              <a:cs typeface="JetBrains Mono"/>
              <a:sym typeface="JetBrains Mono"/>
            </a:endParaRPr>
          </a:p>
        </p:txBody>
      </p:sp>
      <p:sp>
        <p:nvSpPr>
          <p:cNvPr id="454" name="Google Shape;454;p43"/>
          <p:cNvSpPr txBox="1"/>
          <p:nvPr/>
        </p:nvSpPr>
        <p:spPr>
          <a:xfrm>
            <a:off x="2702550" y="15516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file2</a:t>
            </a:r>
            <a:endParaRPr sz="1500">
              <a:solidFill>
                <a:schemeClr val="lt1"/>
              </a:solidFill>
              <a:latin typeface="JetBrains Mono"/>
              <a:ea typeface="JetBrains Mono"/>
              <a:cs typeface="JetBrains Mono"/>
              <a:sym typeface="JetBrains Mono"/>
            </a:endParaRPr>
          </a:p>
        </p:txBody>
      </p:sp>
      <p:sp>
        <p:nvSpPr>
          <p:cNvPr id="455" name="Google Shape;455;p43"/>
          <p:cNvSpPr txBox="1"/>
          <p:nvPr/>
        </p:nvSpPr>
        <p:spPr>
          <a:xfrm>
            <a:off x="5157050" y="15516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file1</a:t>
            </a:r>
            <a:endParaRPr sz="1500">
              <a:solidFill>
                <a:schemeClr val="lt1"/>
              </a:solidFill>
              <a:latin typeface="JetBrains Mono"/>
              <a:ea typeface="JetBrains Mono"/>
              <a:cs typeface="JetBrains Mono"/>
              <a:sym typeface="JetBrains Mono"/>
            </a:endParaRPr>
          </a:p>
        </p:txBody>
      </p:sp>
      <p:sp>
        <p:nvSpPr>
          <p:cNvPr id="456" name="Google Shape;456;p43"/>
          <p:cNvSpPr txBox="1"/>
          <p:nvPr/>
        </p:nvSpPr>
        <p:spPr>
          <a:xfrm>
            <a:off x="7451150" y="15516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file2</a:t>
            </a:r>
            <a:endParaRPr sz="1500">
              <a:solidFill>
                <a:schemeClr val="lt1"/>
              </a:solidFill>
              <a:latin typeface="JetBrains Mono"/>
              <a:ea typeface="JetBrains Mono"/>
              <a:cs typeface="JetBrains Mono"/>
              <a:sym typeface="JetBrains Mono"/>
            </a:endParaRPr>
          </a:p>
        </p:txBody>
      </p:sp>
      <p:sp>
        <p:nvSpPr>
          <p:cNvPr id="457" name="Google Shape;457;p43"/>
          <p:cNvSpPr txBox="1"/>
          <p:nvPr/>
        </p:nvSpPr>
        <p:spPr>
          <a:xfrm>
            <a:off x="861700" y="3583850"/>
            <a:ext cx="9186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inode1</a:t>
            </a:r>
            <a:endParaRPr sz="1500">
              <a:solidFill>
                <a:schemeClr val="lt1"/>
              </a:solidFill>
              <a:latin typeface="JetBrains Mono"/>
              <a:ea typeface="JetBrains Mono"/>
              <a:cs typeface="JetBrains Mono"/>
              <a:sym typeface="JetBrains Mono"/>
            </a:endParaRPr>
          </a:p>
        </p:txBody>
      </p:sp>
      <p:sp>
        <p:nvSpPr>
          <p:cNvPr id="458" name="Google Shape;458;p43"/>
          <p:cNvSpPr txBox="1"/>
          <p:nvPr/>
        </p:nvSpPr>
        <p:spPr>
          <a:xfrm>
            <a:off x="6466375" y="3509750"/>
            <a:ext cx="7701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JetBrains Mono"/>
                <a:ea typeface="JetBrains Mono"/>
                <a:cs typeface="JetBrains Mono"/>
                <a:sym typeface="JetBrains Mono"/>
              </a:rPr>
              <a:t>inode</a:t>
            </a:r>
            <a:endParaRPr sz="1500">
              <a:solidFill>
                <a:schemeClr val="lt1"/>
              </a:solidFill>
              <a:latin typeface="JetBrains Mono"/>
              <a:ea typeface="JetBrains Mono"/>
              <a:cs typeface="JetBrains Mono"/>
              <a:sym typeface="JetBrains Mono"/>
            </a:endParaRPr>
          </a:p>
        </p:txBody>
      </p:sp>
      <p:sp>
        <p:nvSpPr>
          <p:cNvPr id="459" name="Google Shape;459;p43"/>
          <p:cNvSpPr/>
          <p:nvPr/>
        </p:nvSpPr>
        <p:spPr>
          <a:xfrm>
            <a:off x="2653800" y="3376825"/>
            <a:ext cx="867600" cy="7974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0" name="Google Shape;460;p43"/>
          <p:cNvSpPr txBox="1"/>
          <p:nvPr/>
        </p:nvSpPr>
        <p:spPr>
          <a:xfrm>
            <a:off x="2628300" y="3583850"/>
            <a:ext cx="9186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JetBrains Mono"/>
                <a:ea typeface="JetBrains Mono"/>
                <a:cs typeface="JetBrains Mono"/>
                <a:sym typeface="JetBrains Mono"/>
              </a:rPr>
              <a:t>inode2</a:t>
            </a:r>
            <a:endParaRPr sz="1500">
              <a:solidFill>
                <a:schemeClr val="lt1"/>
              </a:solidFill>
              <a:latin typeface="JetBrains Mono"/>
              <a:ea typeface="JetBrains Mono"/>
              <a:cs typeface="JetBrains Mono"/>
              <a:sym typeface="JetBrains Mono"/>
            </a:endParaRPr>
          </a:p>
        </p:txBody>
      </p:sp>
      <p:cxnSp>
        <p:nvCxnSpPr>
          <p:cNvPr id="461" name="Google Shape;461;p43"/>
          <p:cNvCxnSpPr>
            <a:stCxn id="444" idx="2"/>
            <a:endCxn id="459" idx="0"/>
          </p:cNvCxnSpPr>
          <p:nvPr/>
        </p:nvCxnSpPr>
        <p:spPr>
          <a:xfrm>
            <a:off x="3087600" y="2141900"/>
            <a:ext cx="0" cy="1234800"/>
          </a:xfrm>
          <a:prstGeom prst="straightConnector1">
            <a:avLst/>
          </a:prstGeom>
          <a:noFill/>
          <a:ln cap="flat" cmpd="sng" w="9525">
            <a:solidFill>
              <a:schemeClr val="dk2"/>
            </a:solidFill>
            <a:prstDash val="solid"/>
            <a:round/>
            <a:headEnd len="med" w="med" type="none"/>
            <a:tailEnd len="med" w="med" type="triangle"/>
          </a:ln>
        </p:spPr>
      </p:cxnSp>
      <p:sp>
        <p:nvSpPr>
          <p:cNvPr id="462" name="Google Shape;462;p43"/>
          <p:cNvSpPr txBox="1"/>
          <p:nvPr/>
        </p:nvSpPr>
        <p:spPr>
          <a:xfrm>
            <a:off x="5400225" y="4426775"/>
            <a:ext cx="30672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SUSE"/>
                <a:ea typeface="SUSE"/>
                <a:cs typeface="SUSE"/>
                <a:sym typeface="SUSE"/>
              </a:rPr>
              <a:t>Kind of an oversimplification</a:t>
            </a:r>
            <a:endParaRPr sz="1800">
              <a:solidFill>
                <a:schemeClr val="dk2"/>
              </a:solidFill>
              <a:latin typeface="SUSE"/>
              <a:ea typeface="SUSE"/>
              <a:cs typeface="SUSE"/>
              <a:sym typeface="SUSE"/>
            </a:endParaRPr>
          </a:p>
        </p:txBody>
      </p:sp>
      <p:sp>
        <p:nvSpPr>
          <p:cNvPr id="463" name="Google Shape;463;p43"/>
          <p:cNvSpPr txBox="1"/>
          <p:nvPr/>
        </p:nvSpPr>
        <p:spPr>
          <a:xfrm>
            <a:off x="658000" y="4426775"/>
            <a:ext cx="3067200" cy="38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SUSE"/>
                <a:ea typeface="SUSE"/>
                <a:cs typeface="SUSE"/>
                <a:sym typeface="SUSE"/>
              </a:rPr>
              <a:t>More accurate</a:t>
            </a:r>
            <a:endParaRPr sz="1800">
              <a:solidFill>
                <a:schemeClr val="dk2"/>
              </a:solidFill>
              <a:latin typeface="SUSE"/>
              <a:ea typeface="SUSE"/>
              <a:cs typeface="SUSE"/>
              <a:sym typeface="SUS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SUSE SemiBold"/>
                <a:ea typeface="SUSE SemiBold"/>
                <a:cs typeface="SUSE SemiBold"/>
                <a:sym typeface="SUSE SemiBold"/>
              </a:rPr>
              <a:t>The xv6 filesystem</a:t>
            </a:r>
            <a:endParaRPr>
              <a:latin typeface="SUSE SemiBold"/>
              <a:ea typeface="SUSE SemiBold"/>
              <a:cs typeface="SUSE SemiBold"/>
              <a:sym typeface="SUSE SemiBo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pic>
        <p:nvPicPr>
          <p:cNvPr id="473" name="Google Shape;473;p45"/>
          <p:cNvPicPr preferRelativeResize="0"/>
          <p:nvPr/>
        </p:nvPicPr>
        <p:blipFill>
          <a:blip r:embed="rId3">
            <a:alphaModFix/>
          </a:blip>
          <a:stretch>
            <a:fillRect/>
          </a:stretch>
        </p:blipFill>
        <p:spPr>
          <a:xfrm>
            <a:off x="2151800" y="622750"/>
            <a:ext cx="4102725" cy="3897975"/>
          </a:xfrm>
          <a:prstGeom prst="rect">
            <a:avLst/>
          </a:prstGeom>
          <a:noFill/>
          <a:ln>
            <a:noFill/>
          </a:ln>
        </p:spPr>
      </p:pic>
      <p:sp>
        <p:nvSpPr>
          <p:cNvPr id="474" name="Google Shape;474;p45"/>
          <p:cNvSpPr/>
          <p:nvPr/>
        </p:nvSpPr>
        <p:spPr>
          <a:xfrm>
            <a:off x="3046850" y="2649913"/>
            <a:ext cx="2501400" cy="7191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75" name="Google Shape;475;p45"/>
          <p:cNvCxnSpPr/>
          <p:nvPr/>
        </p:nvCxnSpPr>
        <p:spPr>
          <a:xfrm flipH="1" rot="10800000">
            <a:off x="5653350" y="2350688"/>
            <a:ext cx="1222800" cy="6900"/>
          </a:xfrm>
          <a:prstGeom prst="straightConnector1">
            <a:avLst/>
          </a:prstGeom>
          <a:noFill/>
          <a:ln cap="flat" cmpd="sng" w="28575">
            <a:solidFill>
              <a:srgbClr val="00FF00"/>
            </a:solidFill>
            <a:prstDash val="solid"/>
            <a:round/>
            <a:headEnd len="med" w="med" type="triangle"/>
            <a:tailEnd len="med" w="med" type="none"/>
          </a:ln>
        </p:spPr>
      </p:cxnSp>
      <p:cxnSp>
        <p:nvCxnSpPr>
          <p:cNvPr id="476" name="Google Shape;476;p45"/>
          <p:cNvCxnSpPr/>
          <p:nvPr/>
        </p:nvCxnSpPr>
        <p:spPr>
          <a:xfrm flipH="1">
            <a:off x="6866300" y="2350838"/>
            <a:ext cx="3000" cy="1273500"/>
          </a:xfrm>
          <a:prstGeom prst="straightConnector1">
            <a:avLst/>
          </a:prstGeom>
          <a:noFill/>
          <a:ln cap="flat" cmpd="sng" w="28575">
            <a:solidFill>
              <a:srgbClr val="00FF00"/>
            </a:solidFill>
            <a:prstDash val="solid"/>
            <a:round/>
            <a:headEnd len="med" w="med" type="none"/>
            <a:tailEnd len="med" w="med" type="none"/>
          </a:ln>
        </p:spPr>
      </p:cxnSp>
      <p:cxnSp>
        <p:nvCxnSpPr>
          <p:cNvPr id="477" name="Google Shape;477;p45"/>
          <p:cNvCxnSpPr/>
          <p:nvPr/>
        </p:nvCxnSpPr>
        <p:spPr>
          <a:xfrm flipH="1">
            <a:off x="5704600" y="3622813"/>
            <a:ext cx="1163700" cy="4500"/>
          </a:xfrm>
          <a:prstGeom prst="straightConnector1">
            <a:avLst/>
          </a:prstGeom>
          <a:noFill/>
          <a:ln cap="flat" cmpd="sng" w="28575">
            <a:solidFill>
              <a:srgbClr val="00FF00"/>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id="482" name="Google Shape;482;p46"/>
          <p:cNvPicPr preferRelativeResize="0"/>
          <p:nvPr/>
        </p:nvPicPr>
        <p:blipFill>
          <a:blip r:embed="rId3">
            <a:alphaModFix/>
          </a:blip>
          <a:stretch>
            <a:fillRect/>
          </a:stretch>
        </p:blipFill>
        <p:spPr>
          <a:xfrm>
            <a:off x="1538288" y="238375"/>
            <a:ext cx="6067425" cy="1514475"/>
          </a:xfrm>
          <a:prstGeom prst="rect">
            <a:avLst/>
          </a:prstGeom>
          <a:noFill/>
          <a:ln>
            <a:noFill/>
          </a:ln>
        </p:spPr>
      </p:pic>
      <p:pic>
        <p:nvPicPr>
          <p:cNvPr id="483" name="Google Shape;483;p46"/>
          <p:cNvPicPr preferRelativeResize="0"/>
          <p:nvPr/>
        </p:nvPicPr>
        <p:blipFill>
          <a:blip r:embed="rId4">
            <a:alphaModFix/>
          </a:blip>
          <a:stretch>
            <a:fillRect/>
          </a:stretch>
        </p:blipFill>
        <p:spPr>
          <a:xfrm>
            <a:off x="3726425" y="1978425"/>
            <a:ext cx="5417574" cy="1884000"/>
          </a:xfrm>
          <a:prstGeom prst="rect">
            <a:avLst/>
          </a:prstGeom>
          <a:noFill/>
          <a:ln>
            <a:noFill/>
          </a:ln>
        </p:spPr>
      </p:pic>
      <p:pic>
        <p:nvPicPr>
          <p:cNvPr id="484" name="Google Shape;484;p46"/>
          <p:cNvPicPr preferRelativeResize="0"/>
          <p:nvPr/>
        </p:nvPicPr>
        <p:blipFill>
          <a:blip r:embed="rId5">
            <a:alphaModFix/>
          </a:blip>
          <a:stretch>
            <a:fillRect/>
          </a:stretch>
        </p:blipFill>
        <p:spPr>
          <a:xfrm>
            <a:off x="0" y="1978425"/>
            <a:ext cx="3726423" cy="2269203"/>
          </a:xfrm>
          <a:prstGeom prst="rect">
            <a:avLst/>
          </a:prstGeom>
          <a:noFill/>
          <a:ln>
            <a:noFill/>
          </a:ln>
        </p:spPr>
      </p:pic>
      <p:pic>
        <p:nvPicPr>
          <p:cNvPr id="485" name="Google Shape;485;p46"/>
          <p:cNvPicPr preferRelativeResize="0"/>
          <p:nvPr/>
        </p:nvPicPr>
        <p:blipFill>
          <a:blip r:embed="rId6">
            <a:alphaModFix/>
          </a:blip>
          <a:stretch>
            <a:fillRect/>
          </a:stretch>
        </p:blipFill>
        <p:spPr>
          <a:xfrm>
            <a:off x="3726425" y="3862425"/>
            <a:ext cx="4878583" cy="1281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The </a:t>
            </a:r>
            <a:r>
              <a:rPr lang="en" sz="2467">
                <a:latin typeface="JetBrains Mono SemiBold"/>
                <a:ea typeface="JetBrains Mono SemiBold"/>
                <a:cs typeface="JetBrains Mono SemiBold"/>
                <a:sym typeface="JetBrains Mono SemiBold"/>
              </a:rPr>
              <a:t>read()</a:t>
            </a:r>
            <a:r>
              <a:rPr lang="en">
                <a:latin typeface="SUSE SemiBold"/>
                <a:ea typeface="SUSE SemiBold"/>
                <a:cs typeface="SUSE SemiBold"/>
                <a:sym typeface="SUSE SemiBold"/>
              </a:rPr>
              <a:t> system call</a:t>
            </a:r>
            <a:endParaRPr>
              <a:latin typeface="SUSE SemiBold"/>
              <a:ea typeface="SUSE SemiBold"/>
              <a:cs typeface="SUSE SemiBold"/>
              <a:sym typeface="SUSE SemiBold"/>
            </a:endParaRPr>
          </a:p>
        </p:txBody>
      </p:sp>
      <p:sp>
        <p:nvSpPr>
          <p:cNvPr id="491" name="Google Shape;491;p47"/>
          <p:cNvSpPr txBox="1"/>
          <p:nvPr/>
        </p:nvSpPr>
        <p:spPr>
          <a:xfrm>
            <a:off x="403750" y="1130450"/>
            <a:ext cx="4320000" cy="1526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050">
                <a:solidFill>
                  <a:schemeClr val="dk1"/>
                </a:solidFill>
                <a:latin typeface="JetBrains Mono"/>
                <a:ea typeface="JetBrains Mono"/>
                <a:cs typeface="JetBrains Mono"/>
                <a:sym typeface="JetBrains Mono"/>
              </a:rPr>
              <a:t>} else if (f-&gt;type == FD_INODE) {</a:t>
            </a:r>
            <a:endParaRPr sz="10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solidFill>
                  <a:schemeClr val="dk1"/>
                </a:solidFill>
                <a:latin typeface="JetBrains Mono"/>
                <a:ea typeface="JetBrains Mono"/>
                <a:cs typeface="JetBrains Mono"/>
                <a:sym typeface="JetBrains Mono"/>
              </a:rPr>
              <a:t>   </a:t>
            </a:r>
            <a:r>
              <a:rPr lang="en" sz="1050">
                <a:solidFill>
                  <a:srgbClr val="0000FF"/>
                </a:solidFill>
                <a:latin typeface="JetBrains Mono"/>
                <a:ea typeface="JetBrains Mono"/>
                <a:cs typeface="JetBrains Mono"/>
                <a:sym typeface="JetBrains Mono"/>
              </a:rPr>
              <a:t>ilock</a:t>
            </a:r>
            <a:r>
              <a:rPr lang="en" sz="1050">
                <a:solidFill>
                  <a:schemeClr val="dk1"/>
                </a:solidFill>
                <a:latin typeface="JetBrains Mono"/>
                <a:ea typeface="JetBrains Mono"/>
                <a:cs typeface="JetBrains Mono"/>
                <a:sym typeface="JetBrains Mono"/>
              </a:rPr>
              <a:t>(f-&gt;ip);</a:t>
            </a:r>
            <a:endParaRPr sz="10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solidFill>
                  <a:schemeClr val="dk1"/>
                </a:solidFill>
                <a:latin typeface="JetBrains Mono"/>
                <a:ea typeface="JetBrains Mono"/>
                <a:cs typeface="JetBrains Mono"/>
                <a:sym typeface="JetBrains Mono"/>
              </a:rPr>
              <a:t>   if ((r = </a:t>
            </a:r>
            <a:r>
              <a:rPr lang="en" sz="1050">
                <a:solidFill>
                  <a:srgbClr val="0000FF"/>
                </a:solidFill>
                <a:latin typeface="JetBrains Mono"/>
                <a:ea typeface="JetBrains Mono"/>
                <a:cs typeface="JetBrains Mono"/>
                <a:sym typeface="JetBrains Mono"/>
              </a:rPr>
              <a:t>readi</a:t>
            </a:r>
            <a:r>
              <a:rPr lang="en" sz="1050">
                <a:solidFill>
                  <a:schemeClr val="dk1"/>
                </a:solidFill>
                <a:latin typeface="JetBrains Mono"/>
                <a:ea typeface="JetBrains Mono"/>
                <a:cs typeface="JetBrains Mono"/>
                <a:sym typeface="JetBrains Mono"/>
              </a:rPr>
              <a:t>(f-&gt;ip, 1, addr, f-&gt;off, n)) &gt; 0)</a:t>
            </a:r>
            <a:endParaRPr sz="10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solidFill>
                  <a:schemeClr val="dk1"/>
                </a:solidFill>
                <a:latin typeface="JetBrains Mono"/>
                <a:ea typeface="JetBrains Mono"/>
                <a:cs typeface="JetBrains Mono"/>
                <a:sym typeface="JetBrains Mono"/>
              </a:rPr>
              <a:t>     f-&gt;off += r;</a:t>
            </a:r>
            <a:endParaRPr sz="10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solidFill>
                  <a:schemeClr val="dk1"/>
                </a:solidFill>
                <a:latin typeface="JetBrains Mono"/>
                <a:ea typeface="JetBrains Mono"/>
                <a:cs typeface="JetBrains Mono"/>
                <a:sym typeface="JetBrains Mono"/>
              </a:rPr>
              <a:t>   </a:t>
            </a:r>
            <a:r>
              <a:rPr lang="en" sz="1050">
                <a:solidFill>
                  <a:srgbClr val="0000FF"/>
                </a:solidFill>
                <a:latin typeface="JetBrains Mono"/>
                <a:ea typeface="JetBrains Mono"/>
                <a:cs typeface="JetBrains Mono"/>
                <a:sym typeface="JetBrains Mono"/>
              </a:rPr>
              <a:t>iunlock</a:t>
            </a:r>
            <a:r>
              <a:rPr lang="en" sz="1050">
                <a:solidFill>
                  <a:schemeClr val="dk1"/>
                </a:solidFill>
                <a:latin typeface="JetBrains Mono"/>
                <a:ea typeface="JetBrains Mono"/>
                <a:cs typeface="JetBrains Mono"/>
                <a:sym typeface="JetBrains Mono"/>
              </a:rPr>
              <a:t>(f-&gt;ip);</a:t>
            </a:r>
            <a:endParaRPr sz="10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solidFill>
                  <a:schemeClr val="dk1"/>
                </a:solidFill>
                <a:latin typeface="JetBrains Mono"/>
                <a:ea typeface="JetBrains Mono"/>
                <a:cs typeface="JetBrains Mono"/>
                <a:sym typeface="JetBrains Mono"/>
              </a:rPr>
              <a:t> } else {</a:t>
            </a:r>
            <a:endParaRPr sz="1050">
              <a:solidFill>
                <a:schemeClr val="dk1"/>
              </a:solidFill>
              <a:latin typeface="JetBrains Mono"/>
              <a:ea typeface="JetBrains Mono"/>
              <a:cs typeface="JetBrains Mono"/>
              <a:sym typeface="JetBrains Mono"/>
            </a:endParaRPr>
          </a:p>
          <a:p>
            <a:pPr indent="0" lvl="0" marL="0" rtl="0" algn="l">
              <a:spcBef>
                <a:spcPts val="0"/>
              </a:spcBef>
              <a:spcAft>
                <a:spcPts val="0"/>
              </a:spcAft>
              <a:buNone/>
            </a:pPr>
            <a:r>
              <a:t/>
            </a:r>
            <a:endParaRPr sz="1800">
              <a:solidFill>
                <a:schemeClr val="dk1"/>
              </a:solidFill>
              <a:latin typeface="JetBrains Mono"/>
              <a:ea typeface="JetBrains Mono"/>
              <a:cs typeface="JetBrains Mono"/>
              <a:sym typeface="JetBrains Mono"/>
            </a:endParaRPr>
          </a:p>
        </p:txBody>
      </p:sp>
      <p:sp>
        <p:nvSpPr>
          <p:cNvPr id="492" name="Google Shape;492;p47"/>
          <p:cNvSpPr txBox="1"/>
          <p:nvPr/>
        </p:nvSpPr>
        <p:spPr>
          <a:xfrm>
            <a:off x="2664600" y="2099400"/>
            <a:ext cx="6167700" cy="2906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i</a:t>
            </a:r>
            <a:r>
              <a:rPr lang="en" sz="1050">
                <a:latin typeface="JetBrains Mono"/>
                <a:ea typeface="JetBrains Mono"/>
                <a:cs typeface="JetBrains Mono"/>
                <a:sym typeface="JetBrains Mono"/>
              </a:rPr>
              <a:t>nt </a:t>
            </a:r>
            <a:r>
              <a:rPr lang="en" sz="1050">
                <a:solidFill>
                  <a:srgbClr val="0000FF"/>
                </a:solidFill>
                <a:latin typeface="JetBrains Mono"/>
                <a:ea typeface="JetBrains Mono"/>
                <a:cs typeface="JetBrains Mono"/>
                <a:sym typeface="JetBrains Mono"/>
              </a:rPr>
              <a:t>readi</a:t>
            </a:r>
            <a:r>
              <a:rPr lang="en" sz="1050">
                <a:latin typeface="JetBrains Mono"/>
                <a:ea typeface="JetBrains Mono"/>
                <a:cs typeface="JetBrains Mono"/>
                <a:sym typeface="JetBrains Mono"/>
              </a:rPr>
              <a:t>(struct inode *ip, int user_dst, uint64 dst, uint off, uint n) {</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 </a:t>
            </a:r>
            <a:r>
              <a:rPr lang="en" sz="1050">
                <a:latin typeface="JetBrains Mono"/>
                <a:ea typeface="JetBrains Mono"/>
                <a:cs typeface="JetBrains Mono"/>
                <a:sym typeface="JetBrains Mono"/>
              </a:rPr>
              <a:t>...</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 for (tot = 0; tot &lt; n; tot += m, off += m, dst += m) {</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   uint addr = </a:t>
            </a:r>
            <a:r>
              <a:rPr lang="en" sz="1050">
                <a:solidFill>
                  <a:srgbClr val="9900FF"/>
                </a:solidFill>
                <a:latin typeface="JetBrains Mono"/>
                <a:ea typeface="JetBrains Mono"/>
                <a:cs typeface="JetBrains Mono"/>
                <a:sym typeface="JetBrains Mono"/>
              </a:rPr>
              <a:t>bmap</a:t>
            </a:r>
            <a:r>
              <a:rPr lang="en" sz="1050">
                <a:latin typeface="JetBrains Mono"/>
                <a:ea typeface="JetBrains Mono"/>
                <a:cs typeface="JetBrains Mono"/>
                <a:sym typeface="JetBrains Mono"/>
              </a:rPr>
              <a:t>(ip, off / BSIZE);</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   </a:t>
            </a:r>
            <a:r>
              <a:rPr lang="en" sz="1050">
                <a:latin typeface="JetBrains Mono"/>
                <a:ea typeface="JetBrains Mono"/>
                <a:cs typeface="JetBrains Mono"/>
                <a:sym typeface="JetBrains Mono"/>
              </a:rPr>
              <a:t>...</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   bp = </a:t>
            </a:r>
            <a:r>
              <a:rPr lang="en" sz="1050">
                <a:solidFill>
                  <a:srgbClr val="9900FF"/>
                </a:solidFill>
                <a:latin typeface="JetBrains Mono"/>
                <a:ea typeface="JetBrains Mono"/>
                <a:cs typeface="JetBrains Mono"/>
                <a:sym typeface="JetBrains Mono"/>
              </a:rPr>
              <a:t>bread</a:t>
            </a:r>
            <a:r>
              <a:rPr lang="en" sz="1050">
                <a:latin typeface="JetBrains Mono"/>
                <a:ea typeface="JetBrains Mono"/>
                <a:cs typeface="JetBrains Mono"/>
                <a:sym typeface="JetBrains Mono"/>
              </a:rPr>
              <a:t>(ip-&gt;dev, addr);</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   m = min(n - tot, BSIZE - off % BSIZE);</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   </a:t>
            </a:r>
            <a:r>
              <a:rPr lang="en" sz="1050">
                <a:latin typeface="JetBrains Mono"/>
                <a:ea typeface="JetBrains Mono"/>
                <a:cs typeface="JetBrains Mono"/>
                <a:sym typeface="JetBrains Mono"/>
              </a:rPr>
              <a:t>...</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   </a:t>
            </a:r>
            <a:r>
              <a:rPr lang="en" sz="1050">
                <a:solidFill>
                  <a:srgbClr val="9900FF"/>
                </a:solidFill>
                <a:latin typeface="JetBrains Mono"/>
                <a:ea typeface="JetBrains Mono"/>
                <a:cs typeface="JetBrains Mono"/>
                <a:sym typeface="JetBrains Mono"/>
              </a:rPr>
              <a:t>brelse</a:t>
            </a:r>
            <a:r>
              <a:rPr lang="en" sz="1050">
                <a:latin typeface="JetBrains Mono"/>
                <a:ea typeface="JetBrains Mono"/>
                <a:cs typeface="JetBrains Mono"/>
                <a:sym typeface="JetBrains Mono"/>
              </a:rPr>
              <a:t>(bp);</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 }</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 return tot;</a:t>
            </a:r>
            <a:endParaRPr sz="1050">
              <a:latin typeface="JetBrains Mono"/>
              <a:ea typeface="JetBrains Mono"/>
              <a:cs typeface="JetBrains Mono"/>
              <a:sym typeface="JetBrains Mono"/>
            </a:endParaRPr>
          </a:p>
          <a:p>
            <a:pPr indent="0" lvl="0" marL="0" rtl="0" algn="l">
              <a:lnSpc>
                <a:spcPct val="135714"/>
              </a:lnSpc>
              <a:spcBef>
                <a:spcPts val="0"/>
              </a:spcBef>
              <a:spcAft>
                <a:spcPts val="0"/>
              </a:spcAft>
              <a:buClr>
                <a:schemeClr val="dk1"/>
              </a:buClr>
              <a:buSzPts val="1100"/>
              <a:buFont typeface="Arial"/>
              <a:buNone/>
            </a:pPr>
            <a:r>
              <a:rPr lang="en" sz="1050">
                <a:latin typeface="JetBrains Mono"/>
                <a:ea typeface="JetBrains Mono"/>
                <a:cs typeface="JetBrains Mono"/>
                <a:sym typeface="JetBrains Mono"/>
              </a:rPr>
              <a:t>}</a:t>
            </a:r>
            <a:endParaRPr sz="1050">
              <a:latin typeface="JetBrains Mono"/>
              <a:ea typeface="JetBrains Mono"/>
              <a:cs typeface="JetBrains Mono"/>
              <a:sym typeface="JetBrains Mono"/>
            </a:endParaRPr>
          </a:p>
          <a:p>
            <a:pPr indent="0" lvl="0" marL="0" rtl="0" algn="l">
              <a:spcBef>
                <a:spcPts val="0"/>
              </a:spcBef>
              <a:spcAft>
                <a:spcPts val="0"/>
              </a:spcAft>
              <a:buNone/>
            </a:pPr>
            <a:r>
              <a:t/>
            </a:r>
            <a:endParaRPr sz="1800">
              <a:latin typeface="JetBrains Mono"/>
              <a:ea typeface="JetBrains Mono"/>
              <a:cs typeface="JetBrains Mono"/>
              <a:sym typeface="JetBrains Mono"/>
            </a:endParaRPr>
          </a:p>
        </p:txBody>
      </p:sp>
      <p:sp>
        <p:nvSpPr>
          <p:cNvPr id="493" name="Google Shape;493;p47"/>
          <p:cNvSpPr/>
          <p:nvPr/>
        </p:nvSpPr>
        <p:spPr>
          <a:xfrm>
            <a:off x="2567725" y="2002500"/>
            <a:ext cx="6576300" cy="3141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8"/>
          <p:cNvSpPr txBox="1"/>
          <p:nvPr>
            <p:ph type="title"/>
          </p:nvPr>
        </p:nvSpPr>
        <p:spPr>
          <a:xfrm>
            <a:off x="311700" y="162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The </a:t>
            </a:r>
            <a:r>
              <a:rPr lang="en" sz="2467">
                <a:latin typeface="JetBrains Mono SemiBold"/>
                <a:ea typeface="JetBrains Mono SemiBold"/>
                <a:cs typeface="JetBrains Mono SemiBold"/>
                <a:sym typeface="JetBrains Mono SemiBold"/>
              </a:rPr>
              <a:t>write()</a:t>
            </a:r>
            <a:r>
              <a:rPr lang="en">
                <a:latin typeface="SUSE SemiBold"/>
                <a:ea typeface="SUSE SemiBold"/>
                <a:cs typeface="SUSE SemiBold"/>
                <a:sym typeface="SUSE SemiBold"/>
              </a:rPr>
              <a:t> system call</a:t>
            </a:r>
            <a:endParaRPr>
              <a:latin typeface="SUSE SemiBold"/>
              <a:ea typeface="SUSE SemiBold"/>
              <a:cs typeface="SUSE SemiBold"/>
              <a:sym typeface="SUSE SemiBold"/>
            </a:endParaRPr>
          </a:p>
        </p:txBody>
      </p:sp>
      <p:sp>
        <p:nvSpPr>
          <p:cNvPr id="499" name="Google Shape;499;p48"/>
          <p:cNvSpPr txBox="1"/>
          <p:nvPr/>
        </p:nvSpPr>
        <p:spPr>
          <a:xfrm>
            <a:off x="5046475" y="315475"/>
            <a:ext cx="4011900" cy="4399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else if (f-&gt;type == FD_INODE)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i="1" lang="en" sz="850">
                <a:solidFill>
                  <a:srgbClr val="D9D4CD"/>
                </a:solidFill>
                <a:latin typeface="JetBrains Mono"/>
                <a:ea typeface="JetBrains Mono"/>
                <a:cs typeface="JetBrains Mono"/>
                <a:sym typeface="JetBrains Mono"/>
              </a:rPr>
              <a:t>...</a:t>
            </a:r>
            <a:endParaRPr i="1" sz="850">
              <a:solidFill>
                <a:srgbClr val="D9D4CD"/>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int max = ((MAXOPBLOCKS - 1 - 1 - 2) / 2) * BSIZE;</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int i = 0;</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while (i &lt; n)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int n1 = n - i;</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if (n1 &gt; max)</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n1 = max;</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rgbClr val="FF00FF"/>
                </a:solidFill>
                <a:latin typeface="JetBrains Mono"/>
                <a:ea typeface="JetBrains Mono"/>
                <a:cs typeface="JetBrains Mono"/>
                <a:sym typeface="JetBrains Mono"/>
              </a:rPr>
              <a:t>begin_op</a:t>
            </a:r>
            <a:r>
              <a:rPr lang="en" sz="850">
                <a:solidFill>
                  <a:schemeClr val="dk1"/>
                </a:solidFill>
                <a:latin typeface="JetBrains Mono"/>
                <a:ea typeface="JetBrains Mono"/>
                <a:cs typeface="JetBrains Mono"/>
                <a:sym typeface="JetBrains Mono"/>
              </a:rPr>
              <a:t>();</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rgbClr val="0000FF"/>
                </a:solidFill>
                <a:latin typeface="JetBrains Mono"/>
                <a:ea typeface="JetBrains Mono"/>
                <a:cs typeface="JetBrains Mono"/>
                <a:sym typeface="JetBrains Mono"/>
              </a:rPr>
              <a:t>ilock</a:t>
            </a:r>
            <a:r>
              <a:rPr lang="en" sz="850">
                <a:solidFill>
                  <a:schemeClr val="dk1"/>
                </a:solidFill>
                <a:latin typeface="JetBrains Mono"/>
                <a:ea typeface="JetBrains Mono"/>
                <a:cs typeface="JetBrains Mono"/>
                <a:sym typeface="JetBrains Mono"/>
              </a:rPr>
              <a:t>(f-&gt;ip);</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if ((r = </a:t>
            </a:r>
            <a:r>
              <a:rPr lang="en" sz="850">
                <a:solidFill>
                  <a:srgbClr val="0000FF"/>
                </a:solidFill>
                <a:latin typeface="JetBrains Mono"/>
                <a:ea typeface="JetBrains Mono"/>
                <a:cs typeface="JetBrains Mono"/>
                <a:sym typeface="JetBrains Mono"/>
              </a:rPr>
              <a:t>writei</a:t>
            </a:r>
            <a:r>
              <a:rPr lang="en" sz="850">
                <a:solidFill>
                  <a:schemeClr val="dk1"/>
                </a:solidFill>
                <a:latin typeface="JetBrains Mono"/>
                <a:ea typeface="JetBrains Mono"/>
                <a:cs typeface="JetBrains Mono"/>
                <a:sym typeface="JetBrains Mono"/>
              </a:rPr>
              <a:t>(f-&gt;ip, 1, addr + i, f-&gt;off, n1)) &gt; 0)</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f-&gt;off += r;</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rgbClr val="0000FF"/>
                </a:solidFill>
                <a:latin typeface="JetBrains Mono"/>
                <a:ea typeface="JetBrains Mono"/>
                <a:cs typeface="JetBrains Mono"/>
                <a:sym typeface="JetBrains Mono"/>
              </a:rPr>
              <a:t>iunlock</a:t>
            </a:r>
            <a:r>
              <a:rPr lang="en" sz="850">
                <a:solidFill>
                  <a:schemeClr val="dk1"/>
                </a:solidFill>
                <a:latin typeface="JetBrains Mono"/>
                <a:ea typeface="JetBrains Mono"/>
                <a:cs typeface="JetBrains Mono"/>
                <a:sym typeface="JetBrains Mono"/>
              </a:rPr>
              <a:t>(f-&gt;ip);</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rgbClr val="FF00FF"/>
                </a:solidFill>
                <a:latin typeface="JetBrains Mono"/>
                <a:ea typeface="JetBrains Mono"/>
                <a:cs typeface="JetBrains Mono"/>
                <a:sym typeface="JetBrains Mono"/>
              </a:rPr>
              <a:t>end_op</a:t>
            </a:r>
            <a:r>
              <a:rPr lang="en" sz="850">
                <a:solidFill>
                  <a:schemeClr val="dk1"/>
                </a:solidFill>
                <a:latin typeface="JetBrains Mono"/>
                <a:ea typeface="JetBrains Mono"/>
                <a:cs typeface="JetBrains Mono"/>
                <a:sym typeface="JetBrains Mono"/>
              </a:rPr>
              <a:t>();</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if (r != n1)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i="1" lang="en" sz="850">
                <a:solidFill>
                  <a:schemeClr val="dk1"/>
                </a:solidFill>
                <a:latin typeface="JetBrains Mono"/>
                <a:ea typeface="JetBrains Mono"/>
                <a:cs typeface="JetBrains Mono"/>
                <a:sym typeface="JetBrains Mono"/>
              </a:rPr>
              <a:t>// error from writei</a:t>
            </a:r>
            <a:endParaRPr i="1"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break;</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i += r;</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ret = (i == n ? n : -1);</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 else {</a:t>
            </a:r>
            <a:endParaRPr sz="850">
              <a:solidFill>
                <a:schemeClr val="dk1"/>
              </a:solidFill>
              <a:latin typeface="JetBrains Mono"/>
              <a:ea typeface="JetBrains Mono"/>
              <a:cs typeface="JetBrains Mono"/>
              <a:sym typeface="JetBrains Mono"/>
            </a:endParaRPr>
          </a:p>
        </p:txBody>
      </p:sp>
      <p:sp>
        <p:nvSpPr>
          <p:cNvPr id="500" name="Google Shape;500;p48"/>
          <p:cNvSpPr txBox="1"/>
          <p:nvPr/>
        </p:nvSpPr>
        <p:spPr>
          <a:xfrm>
            <a:off x="145325" y="823950"/>
            <a:ext cx="4804200" cy="4044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int</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rgbClr val="0000FF"/>
                </a:solidFill>
                <a:latin typeface="JetBrains Mono"/>
                <a:ea typeface="JetBrains Mono"/>
                <a:cs typeface="JetBrains Mono"/>
                <a:sym typeface="JetBrains Mono"/>
              </a:rPr>
              <a:t>writei</a:t>
            </a:r>
            <a:r>
              <a:rPr lang="en" sz="850">
                <a:solidFill>
                  <a:schemeClr val="dk1"/>
                </a:solidFill>
                <a:latin typeface="JetBrains Mono"/>
                <a:ea typeface="JetBrains Mono"/>
                <a:cs typeface="JetBrains Mono"/>
                <a:sym typeface="JetBrains Mono"/>
              </a:rPr>
              <a:t>(struct inode *ip, int user_src, uint64 src, uint off, uint n)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rgbClr val="B7B7B7"/>
                </a:solidFill>
                <a:latin typeface="JetBrains Mono"/>
                <a:ea typeface="JetBrains Mono"/>
                <a:cs typeface="JetBrains Mono"/>
                <a:sym typeface="JetBrains Mono"/>
              </a:rPr>
              <a:t>...</a:t>
            </a:r>
            <a:endParaRPr sz="850">
              <a:solidFill>
                <a:srgbClr val="B7B7B7"/>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for (tot = 0; tot &lt; n; tot += m, off += m, src += m)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uint addr = </a:t>
            </a:r>
            <a:r>
              <a:rPr lang="en" sz="850">
                <a:solidFill>
                  <a:srgbClr val="9900FF"/>
                </a:solidFill>
                <a:latin typeface="JetBrains Mono"/>
                <a:ea typeface="JetBrains Mono"/>
                <a:cs typeface="JetBrains Mono"/>
                <a:sym typeface="JetBrains Mono"/>
              </a:rPr>
              <a:t>bmap</a:t>
            </a:r>
            <a:r>
              <a:rPr lang="en" sz="850">
                <a:solidFill>
                  <a:schemeClr val="dk1"/>
                </a:solidFill>
                <a:latin typeface="JetBrains Mono"/>
                <a:ea typeface="JetBrains Mono"/>
                <a:cs typeface="JetBrains Mono"/>
                <a:sym typeface="JetBrains Mono"/>
              </a:rPr>
              <a:t>(ip, off / BSIZE);</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chemeClr val="dk1"/>
                </a:solidFill>
                <a:latin typeface="JetBrains Mono"/>
                <a:ea typeface="JetBrains Mono"/>
                <a:cs typeface="JetBrains Mono"/>
                <a:sym typeface="JetBrains Mono"/>
              </a:rPr>
              <a:t>...</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bp = </a:t>
            </a:r>
            <a:r>
              <a:rPr lang="en" sz="850">
                <a:solidFill>
                  <a:srgbClr val="9900FF"/>
                </a:solidFill>
                <a:latin typeface="JetBrains Mono"/>
                <a:ea typeface="JetBrains Mono"/>
                <a:cs typeface="JetBrains Mono"/>
                <a:sym typeface="JetBrains Mono"/>
              </a:rPr>
              <a:t>bread</a:t>
            </a:r>
            <a:r>
              <a:rPr lang="en" sz="850">
                <a:solidFill>
                  <a:schemeClr val="dk1"/>
                </a:solidFill>
                <a:latin typeface="JetBrains Mono"/>
                <a:ea typeface="JetBrains Mono"/>
                <a:cs typeface="JetBrains Mono"/>
                <a:sym typeface="JetBrains Mono"/>
              </a:rPr>
              <a:t>(ip-&gt;dev, addr);</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m = min(n - tot, BSIZE - off % BSIZE);</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chemeClr val="dk1"/>
                </a:solidFill>
                <a:latin typeface="JetBrains Mono"/>
                <a:ea typeface="JetBrains Mono"/>
                <a:cs typeface="JetBrains Mono"/>
                <a:sym typeface="JetBrains Mono"/>
              </a:rPr>
              <a:t>...</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rgbClr val="9900FF"/>
                </a:solidFill>
                <a:latin typeface="JetBrains Mono"/>
                <a:ea typeface="JetBrains Mono"/>
                <a:cs typeface="JetBrains Mono"/>
                <a:sym typeface="JetBrains Mono"/>
              </a:rPr>
              <a:t>log_write</a:t>
            </a:r>
            <a:r>
              <a:rPr lang="en" sz="850">
                <a:solidFill>
                  <a:schemeClr val="dk1"/>
                </a:solidFill>
                <a:latin typeface="JetBrains Mono"/>
                <a:ea typeface="JetBrains Mono"/>
                <a:cs typeface="JetBrains Mono"/>
                <a:sym typeface="JetBrains Mono"/>
              </a:rPr>
              <a:t>(bp);</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rgbClr val="9900FF"/>
                </a:solidFill>
                <a:latin typeface="JetBrains Mono"/>
                <a:ea typeface="JetBrains Mono"/>
                <a:cs typeface="JetBrains Mono"/>
                <a:sym typeface="JetBrains Mono"/>
              </a:rPr>
              <a:t>brelse</a:t>
            </a:r>
            <a:r>
              <a:rPr lang="en" sz="850">
                <a:solidFill>
                  <a:schemeClr val="dk1"/>
                </a:solidFill>
                <a:latin typeface="JetBrains Mono"/>
                <a:ea typeface="JetBrains Mono"/>
                <a:cs typeface="JetBrains Mono"/>
                <a:sym typeface="JetBrains Mono"/>
              </a:rPr>
              <a:t>(bp);</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chemeClr val="dk1"/>
                </a:solidFill>
                <a:latin typeface="JetBrains Mono"/>
                <a:ea typeface="JetBrains Mono"/>
                <a:cs typeface="JetBrains Mono"/>
                <a:sym typeface="JetBrains Mono"/>
              </a:rPr>
              <a:t>...</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i="1" lang="en" sz="850">
                <a:solidFill>
                  <a:schemeClr val="dk1"/>
                </a:solidFill>
                <a:latin typeface="JetBrains Mono"/>
                <a:ea typeface="JetBrains Mono"/>
                <a:cs typeface="JetBrains Mono"/>
                <a:sym typeface="JetBrains Mono"/>
              </a:rPr>
              <a:t>// write the i-node back to disk even if the size didn't change</a:t>
            </a:r>
            <a:endParaRPr i="1"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i="1" lang="en" sz="850">
                <a:solidFill>
                  <a:schemeClr val="dk1"/>
                </a:solidFill>
                <a:latin typeface="JetBrains Mono"/>
                <a:ea typeface="JetBrains Mono"/>
                <a:cs typeface="JetBrains Mono"/>
                <a:sym typeface="JetBrains Mono"/>
              </a:rPr>
              <a:t>// because the loop above might have called bmap() and added a new</a:t>
            </a:r>
            <a:endParaRPr i="1"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i="1" lang="en" sz="850">
                <a:solidFill>
                  <a:schemeClr val="dk1"/>
                </a:solidFill>
                <a:latin typeface="JetBrains Mono"/>
                <a:ea typeface="JetBrains Mono"/>
                <a:cs typeface="JetBrains Mono"/>
                <a:sym typeface="JetBrains Mono"/>
              </a:rPr>
              <a:t>// block to ip-&gt;addrs[].</a:t>
            </a:r>
            <a:endParaRPr i="1"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a:t>
            </a:r>
            <a:r>
              <a:rPr lang="en" sz="850">
                <a:solidFill>
                  <a:srgbClr val="0000FF"/>
                </a:solidFill>
                <a:latin typeface="JetBrains Mono"/>
                <a:ea typeface="JetBrains Mono"/>
                <a:cs typeface="JetBrains Mono"/>
                <a:sym typeface="JetBrains Mono"/>
              </a:rPr>
              <a:t>iupdate</a:t>
            </a:r>
            <a:r>
              <a:rPr lang="en" sz="850">
                <a:solidFill>
                  <a:schemeClr val="dk1"/>
                </a:solidFill>
                <a:latin typeface="JetBrains Mono"/>
                <a:ea typeface="JetBrains Mono"/>
                <a:cs typeface="JetBrains Mono"/>
                <a:sym typeface="JetBrains Mono"/>
              </a:rPr>
              <a:t>(ip);</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 return tot;</a:t>
            </a:r>
            <a:endParaRPr sz="850">
              <a:solidFill>
                <a:schemeClr val="dk1"/>
              </a:solidFill>
              <a:latin typeface="JetBrains Mono"/>
              <a:ea typeface="JetBrains Mono"/>
              <a:cs typeface="JetBrains Mono"/>
              <a:sym typeface="JetBrains Mono"/>
            </a:endParaRPr>
          </a:p>
          <a:p>
            <a:pPr indent="0" lvl="0" marL="0" rtl="0" algn="l">
              <a:lnSpc>
                <a:spcPct val="135714"/>
              </a:lnSpc>
              <a:spcBef>
                <a:spcPts val="0"/>
              </a:spcBef>
              <a:spcAft>
                <a:spcPts val="0"/>
              </a:spcAft>
              <a:buNone/>
            </a:pPr>
            <a:r>
              <a:rPr lang="en" sz="850">
                <a:solidFill>
                  <a:schemeClr val="dk1"/>
                </a:solidFill>
                <a:latin typeface="JetBrains Mono"/>
                <a:ea typeface="JetBrains Mono"/>
                <a:cs typeface="JetBrains Mono"/>
                <a:sym typeface="JetBrains Mono"/>
              </a:rPr>
              <a:t>}</a:t>
            </a:r>
            <a:endParaRPr sz="850">
              <a:solidFill>
                <a:schemeClr val="dk1"/>
              </a:solidFill>
              <a:latin typeface="JetBrains Mono"/>
              <a:ea typeface="JetBrains Mono"/>
              <a:cs typeface="JetBrains Mono"/>
              <a:sym typeface="JetBrains Mono"/>
            </a:endParaRPr>
          </a:p>
        </p:txBody>
      </p:sp>
      <p:cxnSp>
        <p:nvCxnSpPr>
          <p:cNvPr id="501" name="Google Shape;501;p48"/>
          <p:cNvCxnSpPr/>
          <p:nvPr/>
        </p:nvCxnSpPr>
        <p:spPr>
          <a:xfrm flipH="1">
            <a:off x="4908700" y="-23450"/>
            <a:ext cx="300" cy="5178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inode functions</a:t>
            </a:r>
            <a:endParaRPr>
              <a:latin typeface="SUSE SemiBold"/>
              <a:ea typeface="SUSE SemiBold"/>
              <a:cs typeface="SUSE SemiBold"/>
              <a:sym typeface="SUSE SemiBold"/>
            </a:endParaRPr>
          </a:p>
        </p:txBody>
      </p:sp>
      <p:sp>
        <p:nvSpPr>
          <p:cNvPr id="507" name="Google Shape;507;p49"/>
          <p:cNvSpPr txBox="1"/>
          <p:nvPr>
            <p:ph idx="1" type="body"/>
          </p:nvPr>
        </p:nvSpPr>
        <p:spPr>
          <a:xfrm>
            <a:off x="311700" y="1152475"/>
            <a:ext cx="8520600" cy="3820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Font typeface="SUSE"/>
              <a:buChar char="●"/>
            </a:pPr>
            <a:r>
              <a:rPr lang="en" sz="1600">
                <a:solidFill>
                  <a:srgbClr val="0000FF"/>
                </a:solidFill>
                <a:latin typeface="JetBrains Mono"/>
                <a:ea typeface="JetBrains Mono"/>
                <a:cs typeface="JetBrains Mono"/>
                <a:sym typeface="JetBrains Mono"/>
              </a:rPr>
              <a:t>r</a:t>
            </a:r>
            <a:r>
              <a:rPr lang="en" sz="1600">
                <a:solidFill>
                  <a:srgbClr val="0000FF"/>
                </a:solidFill>
                <a:latin typeface="JetBrains Mono"/>
                <a:ea typeface="JetBrains Mono"/>
                <a:cs typeface="JetBrains Mono"/>
                <a:sym typeface="JetBrains Mono"/>
              </a:rPr>
              <a:t>eadi, writei</a:t>
            </a:r>
            <a:r>
              <a:rPr lang="en">
                <a:latin typeface="SUSE"/>
                <a:ea typeface="SUSE"/>
                <a:cs typeface="SUSE"/>
                <a:sym typeface="SUSE"/>
              </a:rPr>
              <a:t> - read and write to inodes</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sz="1600">
                <a:solidFill>
                  <a:srgbClr val="0000FF"/>
                </a:solidFill>
                <a:latin typeface="JetBrains Mono"/>
                <a:ea typeface="JetBrains Mono"/>
                <a:cs typeface="JetBrains Mono"/>
                <a:sym typeface="JetBrains Mono"/>
              </a:rPr>
              <a:t>i</a:t>
            </a:r>
            <a:r>
              <a:rPr lang="en" sz="1600">
                <a:solidFill>
                  <a:srgbClr val="0000FF"/>
                </a:solidFill>
                <a:latin typeface="JetBrains Mono"/>
                <a:ea typeface="JetBrains Mono"/>
                <a:cs typeface="JetBrains Mono"/>
                <a:sym typeface="JetBrains Mono"/>
              </a:rPr>
              <a:t>trunc</a:t>
            </a:r>
            <a:r>
              <a:rPr lang="en">
                <a:latin typeface="SUSE"/>
                <a:ea typeface="SUSE"/>
                <a:cs typeface="SUSE"/>
                <a:sym typeface="SUSE"/>
              </a:rPr>
              <a:t> - truncate an inode (make it an empty file basically)</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sz="1600">
                <a:solidFill>
                  <a:srgbClr val="0000FF"/>
                </a:solidFill>
                <a:latin typeface="JetBrains Mono"/>
                <a:ea typeface="JetBrains Mono"/>
                <a:cs typeface="JetBrains Mono"/>
                <a:sym typeface="JetBrains Mono"/>
              </a:rPr>
              <a:t>n</a:t>
            </a:r>
            <a:r>
              <a:rPr lang="en" sz="1600">
                <a:solidFill>
                  <a:srgbClr val="0000FF"/>
                </a:solidFill>
                <a:latin typeface="JetBrains Mono"/>
                <a:ea typeface="JetBrains Mono"/>
                <a:cs typeface="JetBrains Mono"/>
                <a:sym typeface="JetBrains Mono"/>
              </a:rPr>
              <a:t>amei</a:t>
            </a:r>
            <a:r>
              <a:rPr lang="en">
                <a:latin typeface="SUSE"/>
                <a:ea typeface="SUSE"/>
                <a:cs typeface="SUSE"/>
                <a:sym typeface="SUSE"/>
              </a:rPr>
              <a:t> - takes in a path name and gives corresponding inode (unlocked)</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sz="1600">
                <a:solidFill>
                  <a:srgbClr val="0000FF"/>
                </a:solidFill>
                <a:latin typeface="JetBrains Mono"/>
                <a:ea typeface="JetBrains Mono"/>
                <a:cs typeface="JetBrains Mono"/>
                <a:sym typeface="JetBrains Mono"/>
              </a:rPr>
              <a:t>d</a:t>
            </a:r>
            <a:r>
              <a:rPr lang="en" sz="1600">
                <a:solidFill>
                  <a:srgbClr val="0000FF"/>
                </a:solidFill>
                <a:latin typeface="JetBrains Mono"/>
                <a:ea typeface="JetBrains Mono"/>
                <a:cs typeface="JetBrains Mono"/>
                <a:sym typeface="JetBrains Mono"/>
              </a:rPr>
              <a:t>irlookup</a:t>
            </a:r>
            <a:r>
              <a:rPr lang="en">
                <a:latin typeface="SUSE"/>
                <a:ea typeface="SUSE"/>
                <a:cs typeface="SUSE"/>
                <a:sym typeface="SUSE"/>
              </a:rPr>
              <a:t> - takes in a reference to a directory inode and looks for a name in it.</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sz="1600">
                <a:solidFill>
                  <a:srgbClr val="0000FF"/>
                </a:solidFill>
                <a:latin typeface="JetBrains Mono"/>
                <a:ea typeface="JetBrains Mono"/>
                <a:cs typeface="JetBrains Mono"/>
                <a:sym typeface="JetBrains Mono"/>
              </a:rPr>
              <a:t>i</a:t>
            </a:r>
            <a:r>
              <a:rPr lang="en" sz="1600">
                <a:solidFill>
                  <a:srgbClr val="0000FF"/>
                </a:solidFill>
                <a:latin typeface="JetBrains Mono"/>
                <a:ea typeface="JetBrains Mono"/>
                <a:cs typeface="JetBrains Mono"/>
                <a:sym typeface="JetBrains Mono"/>
              </a:rPr>
              <a:t>lock, iunlock</a:t>
            </a:r>
            <a:r>
              <a:rPr lang="en">
                <a:latin typeface="SUSE"/>
                <a:ea typeface="SUSE"/>
                <a:cs typeface="SUSE"/>
                <a:sym typeface="SUSE"/>
              </a:rPr>
              <a:t> - lock and unlock an inode</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sz="1600">
                <a:solidFill>
                  <a:srgbClr val="0000FF"/>
                </a:solidFill>
                <a:latin typeface="JetBrains Mono"/>
                <a:ea typeface="JetBrains Mono"/>
                <a:cs typeface="JetBrains Mono"/>
                <a:sym typeface="JetBrains Mono"/>
              </a:rPr>
              <a:t>i</a:t>
            </a:r>
            <a:r>
              <a:rPr lang="en" sz="1600">
                <a:solidFill>
                  <a:srgbClr val="0000FF"/>
                </a:solidFill>
                <a:latin typeface="JetBrains Mono"/>
                <a:ea typeface="JetBrains Mono"/>
                <a:cs typeface="JetBrains Mono"/>
                <a:sym typeface="JetBrains Mono"/>
              </a:rPr>
              <a:t>put</a:t>
            </a:r>
            <a:r>
              <a:rPr lang="en">
                <a:latin typeface="SUSE"/>
                <a:ea typeface="SUSE"/>
                <a:cs typeface="SUSE"/>
                <a:sym typeface="SUSE"/>
              </a:rPr>
              <a:t> - drop a reference to an inode (inode is taken out of memory if no references to it)</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sz="1600">
                <a:solidFill>
                  <a:srgbClr val="0000FF"/>
                </a:solidFill>
                <a:latin typeface="JetBrains Mono"/>
                <a:ea typeface="JetBrains Mono"/>
                <a:cs typeface="JetBrains Mono"/>
                <a:sym typeface="JetBrains Mono"/>
              </a:rPr>
              <a:t>i</a:t>
            </a:r>
            <a:r>
              <a:rPr lang="en" sz="1600">
                <a:solidFill>
                  <a:srgbClr val="0000FF"/>
                </a:solidFill>
                <a:latin typeface="JetBrains Mono"/>
                <a:ea typeface="JetBrains Mono"/>
                <a:cs typeface="JetBrains Mono"/>
                <a:sym typeface="JetBrains Mono"/>
              </a:rPr>
              <a:t>unlockput</a:t>
            </a:r>
            <a:r>
              <a:rPr lang="en">
                <a:latin typeface="SUSE"/>
                <a:ea typeface="SUSE"/>
                <a:cs typeface="SUSE"/>
                <a:sym typeface="SUSE"/>
              </a:rPr>
              <a:t> - </a:t>
            </a:r>
            <a:r>
              <a:rPr lang="en">
                <a:latin typeface="SUSE"/>
                <a:ea typeface="SUSE"/>
                <a:cs typeface="SUSE"/>
                <a:sym typeface="SUSE"/>
              </a:rPr>
              <a:t>unlock</a:t>
            </a:r>
            <a:r>
              <a:rPr lang="en">
                <a:latin typeface="SUSE"/>
                <a:ea typeface="SUSE"/>
                <a:cs typeface="SUSE"/>
                <a:sym typeface="SUSE"/>
              </a:rPr>
              <a:t> and drop a reference. </a:t>
            </a:r>
            <a:r>
              <a:rPr b="1" lang="en">
                <a:latin typeface="SUSE"/>
                <a:ea typeface="SUSE"/>
                <a:cs typeface="SUSE"/>
                <a:sym typeface="SUSE"/>
              </a:rPr>
              <a:t>In what order?</a:t>
            </a:r>
            <a:endParaRPr b="1">
              <a:latin typeface="SUSE"/>
              <a:ea typeface="SUSE"/>
              <a:cs typeface="SUSE"/>
              <a:sym typeface="SUSE"/>
            </a:endParaRPr>
          </a:p>
          <a:p>
            <a:pPr indent="-342900" lvl="0" marL="457200" rtl="0" algn="l">
              <a:spcBef>
                <a:spcPts val="0"/>
              </a:spcBef>
              <a:spcAft>
                <a:spcPts val="0"/>
              </a:spcAft>
              <a:buSzPts val="1800"/>
              <a:buFont typeface="SUSE"/>
              <a:buChar char="●"/>
            </a:pPr>
            <a:r>
              <a:rPr lang="en" sz="1600">
                <a:solidFill>
                  <a:srgbClr val="0000FF"/>
                </a:solidFill>
                <a:latin typeface="JetBrains Mono"/>
                <a:ea typeface="JetBrains Mono"/>
                <a:cs typeface="JetBrains Mono"/>
                <a:sym typeface="JetBrains Mono"/>
              </a:rPr>
              <a:t>i</a:t>
            </a:r>
            <a:r>
              <a:rPr lang="en" sz="1600">
                <a:solidFill>
                  <a:srgbClr val="0000FF"/>
                </a:solidFill>
                <a:latin typeface="JetBrains Mono"/>
                <a:ea typeface="JetBrains Mono"/>
                <a:cs typeface="JetBrains Mono"/>
                <a:sym typeface="JetBrains Mono"/>
              </a:rPr>
              <a:t>update</a:t>
            </a:r>
            <a:r>
              <a:rPr lang="en">
                <a:latin typeface="SUSE"/>
                <a:ea typeface="SUSE"/>
                <a:cs typeface="SUSE"/>
                <a:sym typeface="SUSE"/>
              </a:rPr>
              <a:t> - copy a modified in-memory inode to disk</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sz="1600">
                <a:solidFill>
                  <a:srgbClr val="0000FF"/>
                </a:solidFill>
                <a:latin typeface="JetBrains Mono"/>
                <a:ea typeface="JetBrains Mono"/>
                <a:cs typeface="JetBrains Mono"/>
                <a:sym typeface="JetBrains Mono"/>
              </a:rPr>
              <a:t>b</a:t>
            </a:r>
            <a:r>
              <a:rPr lang="en" sz="1600">
                <a:solidFill>
                  <a:srgbClr val="0000FF"/>
                </a:solidFill>
                <a:latin typeface="JetBrains Mono"/>
                <a:ea typeface="JetBrains Mono"/>
                <a:cs typeface="JetBrains Mono"/>
                <a:sym typeface="JetBrains Mono"/>
              </a:rPr>
              <a:t>egin_op, end_op</a:t>
            </a:r>
            <a:r>
              <a:rPr lang="en">
                <a:latin typeface="SUSE"/>
                <a:ea typeface="SUSE"/>
                <a:cs typeface="SUSE"/>
                <a:sym typeface="SUSE"/>
              </a:rPr>
              <a:t> - begin and end a transaction (a transaction is a series of disk operations that is </a:t>
            </a:r>
            <a:r>
              <a:rPr b="1" lang="en">
                <a:latin typeface="SUSE"/>
                <a:ea typeface="SUSE"/>
                <a:cs typeface="SUSE"/>
                <a:sym typeface="SUSE"/>
              </a:rPr>
              <a:t>atomic</a:t>
            </a:r>
            <a:r>
              <a:rPr lang="en">
                <a:latin typeface="SUSE"/>
                <a:ea typeface="SUSE"/>
                <a:cs typeface="SUSE"/>
                <a:sym typeface="SUSE"/>
              </a:rPr>
              <a:t>) (all operations that involve writing to disk must be wrapped in a transaction)</a:t>
            </a:r>
            <a:endParaRPr>
              <a:latin typeface="SUSE"/>
              <a:ea typeface="SUSE"/>
              <a:cs typeface="SUSE"/>
              <a:sym typeface="SUS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SUSE SemiBold"/>
                <a:ea typeface="SUSE SemiBold"/>
                <a:cs typeface="SUSE SemiBold"/>
                <a:sym typeface="SUSE SemiBold"/>
              </a:rPr>
              <a:t>Further topics, if you want to explore</a:t>
            </a:r>
            <a:endParaRPr>
              <a:latin typeface="SUSE SemiBold"/>
              <a:ea typeface="SUSE SemiBold"/>
              <a:cs typeface="SUSE SemiBold"/>
              <a:sym typeface="SUSE SemiBold"/>
            </a:endParaRPr>
          </a:p>
        </p:txBody>
      </p:sp>
      <p:sp>
        <p:nvSpPr>
          <p:cNvPr id="513" name="Google Shape;513;p50"/>
          <p:cNvSpPr txBox="1"/>
          <p:nvPr>
            <p:ph idx="1" type="body"/>
          </p:nvPr>
        </p:nvSpPr>
        <p:spPr>
          <a:xfrm>
            <a:off x="311700" y="1152475"/>
            <a:ext cx="8520600" cy="3805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SUSE"/>
              <a:buChar char="●"/>
            </a:pPr>
            <a:r>
              <a:rPr lang="en">
                <a:latin typeface="SUSE"/>
                <a:ea typeface="SUSE"/>
                <a:cs typeface="SUSE"/>
                <a:sym typeface="SUSE"/>
              </a:rPr>
              <a:t>RAIDs (Redundant array of independent/inexpensive disks)</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a:latin typeface="SUSE"/>
                <a:ea typeface="SUSE"/>
                <a:cs typeface="SUSE"/>
                <a:sym typeface="SUSE"/>
              </a:rPr>
              <a:t>Disk partitioning (MBR, GPT)</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a:latin typeface="SUSE"/>
                <a:ea typeface="SUSE"/>
                <a:cs typeface="SUSE"/>
                <a:sym typeface="SUSE"/>
              </a:rPr>
              <a:t>Disk access protocols (SATA, NVMe)</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a:latin typeface="SUSE"/>
                <a:ea typeface="SUSE"/>
                <a:cs typeface="SUSE"/>
                <a:sym typeface="SUSE"/>
              </a:rPr>
              <a:t>Journaling/write-ahead logging</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a:latin typeface="SUSE"/>
                <a:ea typeface="SUSE"/>
                <a:cs typeface="SUSE"/>
                <a:sym typeface="SUSE"/>
              </a:rPr>
              <a:t>Network filesystems</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a:latin typeface="SUSE"/>
                <a:ea typeface="SUSE"/>
                <a:cs typeface="SUSE"/>
                <a:sym typeface="SUSE"/>
              </a:rPr>
              <a:t>Filesystem in userspace (FUSE)</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a:latin typeface="SUSE"/>
                <a:ea typeface="SUSE"/>
                <a:cs typeface="SUSE"/>
                <a:sym typeface="SUSE"/>
              </a:rPr>
              <a:t>Character devices, block devices, and mounting</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a:latin typeface="SUSE"/>
                <a:ea typeface="SUSE"/>
                <a:cs typeface="SUSE"/>
                <a:sym typeface="SUSE"/>
              </a:rPr>
              <a:t>initramfs</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a:latin typeface="SUSE"/>
                <a:ea typeface="SUSE"/>
                <a:cs typeface="SUSE"/>
                <a:sym typeface="SUSE"/>
              </a:rPr>
              <a:t>Permissions, ownership, access control lists</a:t>
            </a:r>
            <a:endParaRPr>
              <a:latin typeface="SUSE"/>
              <a:ea typeface="SUSE"/>
              <a:cs typeface="SUSE"/>
              <a:sym typeface="SUSE"/>
            </a:endParaRPr>
          </a:p>
          <a:p>
            <a:pPr indent="-342900" lvl="0" marL="457200" rtl="0" algn="l">
              <a:spcBef>
                <a:spcPts val="0"/>
              </a:spcBef>
              <a:spcAft>
                <a:spcPts val="0"/>
              </a:spcAft>
              <a:buSzPts val="1800"/>
              <a:buFont typeface="SUSE"/>
              <a:buChar char="●"/>
            </a:pPr>
            <a:r>
              <a:rPr lang="en">
                <a:latin typeface="SUSE"/>
                <a:ea typeface="SUSE"/>
                <a:cs typeface="SUSE"/>
                <a:sym typeface="SUSE"/>
              </a:rPr>
              <a:t>Other filesystems like btrfs, ext4, ntfs, etc.</a:t>
            </a:r>
            <a:endParaRPr>
              <a:latin typeface="SUSE"/>
              <a:ea typeface="SUSE"/>
              <a:cs typeface="SUSE"/>
              <a:sym typeface="SUS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5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latin typeface="JetBrains Mono"/>
                <a:ea typeface="JetBrains Mono"/>
                <a:cs typeface="JetBrains Mono"/>
                <a:sym typeface="JetBrains Mono"/>
              </a:rPr>
              <a:t>thx</a:t>
            </a:r>
            <a:endParaRPr b="1">
              <a:latin typeface="JetBrains Mono"/>
              <a:ea typeface="JetBrains Mono"/>
              <a:cs typeface="JetBrains Mono"/>
              <a:sym typeface="JetBrains Mon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